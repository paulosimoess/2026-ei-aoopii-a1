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handoutMasterIdLst>
    <p:handoutMasterId r:id="rId18"/>
  </p:handoutMasterIdLst>
  <p:sldIdLst>
    <p:sldId id="309" r:id="rId2"/>
    <p:sldId id="258" r:id="rId3"/>
    <p:sldId id="310" r:id="rId4"/>
    <p:sldId id="311" r:id="rId5"/>
    <p:sldId id="312" r:id="rId6"/>
    <p:sldId id="313" r:id="rId7"/>
    <p:sldId id="314" r:id="rId8"/>
    <p:sldId id="315" r:id="rId9"/>
    <p:sldId id="316" r:id="rId10"/>
    <p:sldId id="317" r:id="rId11"/>
    <p:sldId id="318" r:id="rId12"/>
    <p:sldId id="320" r:id="rId13"/>
    <p:sldId id="321" r:id="rId14"/>
    <p:sldId id="322" r:id="rId15"/>
    <p:sldId id="260" r:id="rId16"/>
  </p:sldIdLst>
  <p:sldSz cx="9144000" cy="6858000" type="screen4x3"/>
  <p:notesSz cx="7099300" cy="102346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147"/>
    <p:restoredTop sz="94655"/>
  </p:normalViewPr>
  <p:slideViewPr>
    <p:cSldViewPr>
      <p:cViewPr varScale="1">
        <p:scale>
          <a:sx n="86" d="100"/>
          <a:sy n="86" d="100"/>
        </p:scale>
        <p:origin x="1613" y="120"/>
      </p:cViewPr>
      <p:guideLst>
        <p:guide orient="horz" pos="2160"/>
        <p:guide pos="2880"/>
      </p:guideLst>
    </p:cSldViewPr>
  </p:slideViewPr>
  <p:notesTextViewPr>
    <p:cViewPr>
      <p:scale>
        <a:sx n="125" d="100"/>
        <a:sy n="125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Cabeçalho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6363" cy="511731"/>
          </a:xfrm>
          <a:prstGeom prst="rect">
            <a:avLst/>
          </a:prstGeom>
        </p:spPr>
        <p:txBody>
          <a:bodyPr vert="horz" lIns="94768" tIns="47384" rIns="94768" bIns="47384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Marcador de Posição da Data 2"/>
          <p:cNvSpPr>
            <a:spLocks noGrp="1"/>
          </p:cNvSpPr>
          <p:nvPr>
            <p:ph type="dt" sz="quarter" idx="1"/>
          </p:nvPr>
        </p:nvSpPr>
        <p:spPr>
          <a:xfrm>
            <a:off x="4021295" y="0"/>
            <a:ext cx="3076363" cy="511731"/>
          </a:xfrm>
          <a:prstGeom prst="rect">
            <a:avLst/>
          </a:prstGeom>
        </p:spPr>
        <p:txBody>
          <a:bodyPr vert="horz" lIns="94768" tIns="47384" rIns="94768" bIns="47384" rtlCol="0"/>
          <a:lstStyle>
            <a:lvl1pPr algn="r">
              <a:defRPr sz="1200"/>
            </a:lvl1pPr>
          </a:lstStyle>
          <a:p>
            <a:fld id="{ADB6FF1F-555E-4388-A8B0-D1E524B355D1}" type="datetimeFigureOut">
              <a:rPr lang="pt-PT" smtClean="0"/>
              <a:pPr/>
              <a:t>14/06/2026</a:t>
            </a:fld>
            <a:endParaRPr lang="pt-PT"/>
          </a:p>
        </p:txBody>
      </p:sp>
      <p:sp>
        <p:nvSpPr>
          <p:cNvPr id="4" name="Marcador de Posição do Rodapé 3"/>
          <p:cNvSpPr>
            <a:spLocks noGrp="1"/>
          </p:cNvSpPr>
          <p:nvPr>
            <p:ph type="ftr" sz="quarter" idx="2"/>
          </p:nvPr>
        </p:nvSpPr>
        <p:spPr>
          <a:xfrm>
            <a:off x="1" y="9721106"/>
            <a:ext cx="3076363" cy="511731"/>
          </a:xfrm>
          <a:prstGeom prst="rect">
            <a:avLst/>
          </a:prstGeom>
        </p:spPr>
        <p:txBody>
          <a:bodyPr vert="horz" lIns="94768" tIns="47384" rIns="94768" bIns="47384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5" name="Marcador de Posição do Número do Diapositivo 4"/>
          <p:cNvSpPr>
            <a:spLocks noGrp="1"/>
          </p:cNvSpPr>
          <p:nvPr>
            <p:ph type="sldNum" sz="quarter" idx="3"/>
          </p:nvPr>
        </p:nvSpPr>
        <p:spPr>
          <a:xfrm>
            <a:off x="4021295" y="9721106"/>
            <a:ext cx="3076363" cy="511731"/>
          </a:xfrm>
          <a:prstGeom prst="rect">
            <a:avLst/>
          </a:prstGeom>
        </p:spPr>
        <p:txBody>
          <a:bodyPr vert="horz" lIns="94768" tIns="47384" rIns="94768" bIns="47384" rtlCol="0" anchor="b"/>
          <a:lstStyle>
            <a:lvl1pPr algn="r">
              <a:defRPr sz="1200"/>
            </a:lvl1pPr>
          </a:lstStyle>
          <a:p>
            <a:fld id="{CD9FB018-1958-45C1-ABFF-E1E983EC4F43}" type="slidenum">
              <a:rPr lang="pt-PT" smtClean="0"/>
              <a:pPr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5347818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Cabeçalho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6363" cy="511731"/>
          </a:xfrm>
          <a:prstGeom prst="rect">
            <a:avLst/>
          </a:prstGeom>
        </p:spPr>
        <p:txBody>
          <a:bodyPr vert="horz" lIns="94768" tIns="47384" rIns="94768" bIns="47384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Marcador de Posição da Data 2"/>
          <p:cNvSpPr>
            <a:spLocks noGrp="1"/>
          </p:cNvSpPr>
          <p:nvPr>
            <p:ph type="dt" idx="1"/>
          </p:nvPr>
        </p:nvSpPr>
        <p:spPr>
          <a:xfrm>
            <a:off x="4021295" y="0"/>
            <a:ext cx="3076363" cy="511731"/>
          </a:xfrm>
          <a:prstGeom prst="rect">
            <a:avLst/>
          </a:prstGeom>
        </p:spPr>
        <p:txBody>
          <a:bodyPr vert="horz" lIns="94768" tIns="47384" rIns="94768" bIns="47384" rtlCol="0"/>
          <a:lstStyle>
            <a:lvl1pPr algn="r">
              <a:defRPr sz="1200"/>
            </a:lvl1pPr>
          </a:lstStyle>
          <a:p>
            <a:fld id="{E77E319B-B046-487F-8D03-B96E4F1A43D0}" type="datetimeFigureOut">
              <a:rPr lang="pt-PT" smtClean="0"/>
              <a:pPr/>
              <a:t>14/06/2026</a:t>
            </a:fld>
            <a:endParaRPr lang="pt-PT"/>
          </a:p>
        </p:txBody>
      </p:sp>
      <p:sp>
        <p:nvSpPr>
          <p:cNvPr id="4" name="Marcador de Posição da Imagem do Diapositivo 3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768" tIns="47384" rIns="94768" bIns="47384" rtlCol="0" anchor="ctr"/>
          <a:lstStyle/>
          <a:p>
            <a:endParaRPr lang="pt-PT"/>
          </a:p>
        </p:txBody>
      </p:sp>
      <p:sp>
        <p:nvSpPr>
          <p:cNvPr id="5" name="Marcador de Posição de Notas 4"/>
          <p:cNvSpPr>
            <a:spLocks noGrp="1"/>
          </p:cNvSpPr>
          <p:nvPr>
            <p:ph type="body" sz="quarter" idx="3"/>
          </p:nvPr>
        </p:nvSpPr>
        <p:spPr>
          <a:xfrm>
            <a:off x="709931" y="4861442"/>
            <a:ext cx="5679440" cy="4605576"/>
          </a:xfrm>
          <a:prstGeom prst="rect">
            <a:avLst/>
          </a:prstGeom>
        </p:spPr>
        <p:txBody>
          <a:bodyPr vert="horz" lIns="94768" tIns="47384" rIns="94768" bIns="47384" rtlCol="0">
            <a:normAutofit/>
          </a:bodyPr>
          <a:lstStyle/>
          <a:p>
            <a:pPr lvl="0"/>
            <a:r>
              <a:rPr lang="pt-PT"/>
              <a:t>Clique para editar os estilos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4"/>
          </p:nvPr>
        </p:nvSpPr>
        <p:spPr>
          <a:xfrm>
            <a:off x="1" y="9721106"/>
            <a:ext cx="3076363" cy="511731"/>
          </a:xfrm>
          <a:prstGeom prst="rect">
            <a:avLst/>
          </a:prstGeom>
        </p:spPr>
        <p:txBody>
          <a:bodyPr vert="horz" lIns="94768" tIns="47384" rIns="94768" bIns="47384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5"/>
          </p:nvPr>
        </p:nvSpPr>
        <p:spPr>
          <a:xfrm>
            <a:off x="4021295" y="9721106"/>
            <a:ext cx="3076363" cy="511731"/>
          </a:xfrm>
          <a:prstGeom prst="rect">
            <a:avLst/>
          </a:prstGeom>
        </p:spPr>
        <p:txBody>
          <a:bodyPr vert="horz" lIns="94768" tIns="47384" rIns="94768" bIns="47384" rtlCol="0" anchor="b"/>
          <a:lstStyle>
            <a:lvl1pPr algn="r">
              <a:defRPr sz="1200"/>
            </a:lvl1pPr>
          </a:lstStyle>
          <a:p>
            <a:fld id="{F3DD545E-D36A-4832-938A-2ECADA69E4C6}" type="slidenum">
              <a:rPr lang="pt-PT" smtClean="0"/>
              <a:pPr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7377616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7D1F5F-AB60-452E-AA79-64E25350F70B}" type="slidenum">
              <a:rPr lang="pt-PT" smtClean="0">
                <a:latin typeface="Arial" pitchFamily="34" charset="0"/>
              </a:rPr>
              <a:pPr/>
              <a:t>2</a:t>
            </a:fld>
            <a:endParaRPr lang="pt-PT">
              <a:latin typeface="Arial" pitchFamily="34" charset="0"/>
            </a:endParaRPr>
          </a:p>
        </p:txBody>
      </p:sp>
      <p:sp>
        <p:nvSpPr>
          <p:cNvPr id="931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PT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73190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7D1F5F-AB60-452E-AA79-64E25350F70B}" type="slidenum">
              <a:rPr lang="pt-PT" smtClean="0">
                <a:latin typeface="Arial" pitchFamily="34" charset="0"/>
              </a:rPr>
              <a:pPr/>
              <a:t>3</a:t>
            </a:fld>
            <a:endParaRPr lang="pt-PT">
              <a:latin typeface="Arial" pitchFamily="34" charset="0"/>
            </a:endParaRPr>
          </a:p>
        </p:txBody>
      </p:sp>
      <p:sp>
        <p:nvSpPr>
          <p:cNvPr id="931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PT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02573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7D1F5F-AB60-452E-AA79-64E25350F70B}" type="slidenum">
              <a:rPr lang="pt-PT" smtClean="0">
                <a:latin typeface="Arial" pitchFamily="34" charset="0"/>
              </a:rPr>
              <a:pPr/>
              <a:t>4</a:t>
            </a:fld>
            <a:endParaRPr lang="pt-PT">
              <a:latin typeface="Arial" pitchFamily="34" charset="0"/>
            </a:endParaRPr>
          </a:p>
        </p:txBody>
      </p:sp>
      <p:sp>
        <p:nvSpPr>
          <p:cNvPr id="931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PT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47343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7D1F5F-AB60-452E-AA79-64E25350F70B}" type="slidenum">
              <a:rPr lang="pt-PT" smtClean="0">
                <a:latin typeface="Arial" pitchFamily="34" charset="0"/>
              </a:rPr>
              <a:pPr/>
              <a:t>5</a:t>
            </a:fld>
            <a:endParaRPr lang="pt-PT">
              <a:latin typeface="Arial" pitchFamily="34" charset="0"/>
            </a:endParaRPr>
          </a:p>
        </p:txBody>
      </p:sp>
      <p:sp>
        <p:nvSpPr>
          <p:cNvPr id="931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PT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816118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7D1F5F-AB60-452E-AA79-64E25350F70B}" type="slidenum">
              <a:rPr lang="pt-PT" smtClean="0">
                <a:latin typeface="Arial" pitchFamily="34" charset="0"/>
              </a:rPr>
              <a:pPr/>
              <a:t>6</a:t>
            </a:fld>
            <a:endParaRPr lang="pt-PT">
              <a:latin typeface="Arial" pitchFamily="34" charset="0"/>
            </a:endParaRPr>
          </a:p>
        </p:txBody>
      </p:sp>
      <p:sp>
        <p:nvSpPr>
          <p:cNvPr id="931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PT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106476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7D1F5F-AB60-452E-AA79-64E25350F70B}" type="slidenum">
              <a:rPr lang="pt-PT" smtClean="0">
                <a:latin typeface="Arial" pitchFamily="34" charset="0"/>
              </a:rPr>
              <a:pPr/>
              <a:t>7</a:t>
            </a:fld>
            <a:endParaRPr lang="pt-PT">
              <a:latin typeface="Arial" pitchFamily="34" charset="0"/>
            </a:endParaRPr>
          </a:p>
        </p:txBody>
      </p:sp>
      <p:sp>
        <p:nvSpPr>
          <p:cNvPr id="931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PT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393596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7D1F5F-AB60-452E-AA79-64E25350F70B}" type="slidenum">
              <a:rPr lang="pt-PT" smtClean="0">
                <a:latin typeface="Arial" pitchFamily="34" charset="0"/>
              </a:rPr>
              <a:pPr/>
              <a:t>8</a:t>
            </a:fld>
            <a:endParaRPr lang="pt-PT">
              <a:latin typeface="Arial" pitchFamily="34" charset="0"/>
            </a:endParaRPr>
          </a:p>
        </p:txBody>
      </p:sp>
      <p:sp>
        <p:nvSpPr>
          <p:cNvPr id="931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PT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02385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7D1F5F-AB60-452E-AA79-64E25350F70B}" type="slidenum">
              <a:rPr lang="pt-PT" smtClean="0">
                <a:latin typeface="Arial" pitchFamily="34" charset="0"/>
              </a:rPr>
              <a:pPr/>
              <a:t>9</a:t>
            </a:fld>
            <a:endParaRPr lang="pt-PT">
              <a:latin typeface="Arial" pitchFamily="34" charset="0"/>
            </a:endParaRPr>
          </a:p>
        </p:txBody>
      </p:sp>
      <p:sp>
        <p:nvSpPr>
          <p:cNvPr id="931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PT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238459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7D1F5F-AB60-452E-AA79-64E25350F70B}" type="slidenum">
              <a:rPr lang="pt-PT" smtClean="0">
                <a:latin typeface="Arial" pitchFamily="34" charset="0"/>
              </a:rPr>
              <a:pPr/>
              <a:t>10</a:t>
            </a:fld>
            <a:endParaRPr lang="pt-PT">
              <a:latin typeface="Arial" pitchFamily="34" charset="0"/>
            </a:endParaRPr>
          </a:p>
        </p:txBody>
      </p:sp>
      <p:sp>
        <p:nvSpPr>
          <p:cNvPr id="931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PT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759930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7D1F5F-AB60-452E-AA79-64E25350F70B}" type="slidenum">
              <a:rPr lang="pt-PT" smtClean="0">
                <a:latin typeface="Arial" pitchFamily="34" charset="0"/>
              </a:rPr>
              <a:pPr/>
              <a:t>11</a:t>
            </a:fld>
            <a:endParaRPr lang="pt-PT">
              <a:latin typeface="Arial" pitchFamily="34" charset="0"/>
            </a:endParaRPr>
          </a:p>
        </p:txBody>
      </p:sp>
      <p:sp>
        <p:nvSpPr>
          <p:cNvPr id="931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PT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483538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7D1F5F-AB60-452E-AA79-64E25350F70B}" type="slidenum">
              <a:rPr lang="pt-PT" smtClean="0">
                <a:latin typeface="Arial" pitchFamily="34" charset="0"/>
              </a:rPr>
              <a:pPr/>
              <a:t>12</a:t>
            </a:fld>
            <a:endParaRPr lang="pt-PT">
              <a:latin typeface="Arial" pitchFamily="34" charset="0"/>
            </a:endParaRPr>
          </a:p>
        </p:txBody>
      </p:sp>
      <p:sp>
        <p:nvSpPr>
          <p:cNvPr id="931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PT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042546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7D1F5F-AB60-452E-AA79-64E25350F70B}" type="slidenum">
              <a:rPr lang="pt-PT" smtClean="0">
                <a:latin typeface="Arial" pitchFamily="34" charset="0"/>
              </a:rPr>
              <a:pPr/>
              <a:t>13</a:t>
            </a:fld>
            <a:endParaRPr lang="pt-PT">
              <a:latin typeface="Arial" pitchFamily="34" charset="0"/>
            </a:endParaRPr>
          </a:p>
        </p:txBody>
      </p:sp>
      <p:sp>
        <p:nvSpPr>
          <p:cNvPr id="931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PT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919631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7D1F5F-AB60-452E-AA79-64E25350F70B}" type="slidenum">
              <a:rPr lang="pt-PT" smtClean="0">
                <a:latin typeface="Arial" pitchFamily="34" charset="0"/>
              </a:rPr>
              <a:pPr/>
              <a:t>14</a:t>
            </a:fld>
            <a:endParaRPr lang="pt-PT">
              <a:latin typeface="Arial" pitchFamily="34" charset="0"/>
            </a:endParaRPr>
          </a:p>
        </p:txBody>
      </p:sp>
      <p:sp>
        <p:nvSpPr>
          <p:cNvPr id="931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PT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02156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o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t-PT"/>
              <a:t>Clique para editar o estilo do título do Modelo Global</a:t>
            </a:r>
            <a:endParaRPr lang="en-U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PT"/>
              <a:t>Faça clique para editar o estilo do subtítulo do modelo global</a:t>
            </a:r>
            <a:endParaRPr lang="en-US"/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3E61B-3AB3-490F-90D4-269C8A444AE7}" type="datetimeFigureOut">
              <a:rPr lang="en-US" smtClean="0"/>
              <a:pPr/>
              <a:t>6/14/2026</a:t>
            </a:fld>
            <a:endParaRPr lang="en-US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5C66F-FC7B-4C52-931F-EAABACA1CBDF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objec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do título do Modelo Global</a:t>
            </a:r>
            <a:endParaRPr lang="en-US"/>
          </a:p>
        </p:txBody>
      </p:sp>
      <p:sp>
        <p:nvSpPr>
          <p:cNvPr id="3" name="Marcador de Posição de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PT"/>
              <a:t>Clique para 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3E61B-3AB3-490F-90D4-269C8A444AE7}" type="datetimeFigureOut">
              <a:rPr lang="en-US" smtClean="0"/>
              <a:pPr/>
              <a:t>6/14/2026</a:t>
            </a:fld>
            <a:endParaRPr lang="en-US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5C66F-FC7B-4C52-931F-EAABACA1CBDF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c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PT"/>
              <a:t>Clique para editar o estilo do título do Modelo Global</a:t>
            </a:r>
            <a:endParaRPr lang="en-US"/>
          </a:p>
        </p:txBody>
      </p:sp>
      <p:sp>
        <p:nvSpPr>
          <p:cNvPr id="3" name="Marcador de Posição do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PT"/>
              <a:t>Clique para editar os estilos de texto do modelo global</a:t>
            </a:r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3E61B-3AB3-490F-90D4-269C8A444AE7}" type="datetimeFigureOut">
              <a:rPr lang="en-US" smtClean="0"/>
              <a:pPr/>
              <a:t>6/14/2026</a:t>
            </a:fld>
            <a:endParaRPr lang="en-US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5C66F-FC7B-4C52-931F-EAABACA1CBDF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do título do Modelo Global</a:t>
            </a:r>
            <a:endParaRPr lang="en-US"/>
          </a:p>
        </p:txBody>
      </p:sp>
      <p:sp>
        <p:nvSpPr>
          <p:cNvPr id="3" name="Marcador de Posição de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PT"/>
              <a:t>Clique para 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4" name="Marcador de Posição de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PT"/>
              <a:t>Clique para 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5" name="Marcador de Posição d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3E61B-3AB3-490F-90D4-269C8A444AE7}" type="datetimeFigureOut">
              <a:rPr lang="en-US" smtClean="0"/>
              <a:pPr/>
              <a:t>6/14/2026</a:t>
            </a:fld>
            <a:endParaRPr lang="en-US"/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5C66F-FC7B-4C52-931F-EAABACA1CBDF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PT"/>
              <a:t>Clique para editar o estilo do título do Modelo Global</a:t>
            </a:r>
            <a:endParaRPr lang="en-US"/>
          </a:p>
        </p:txBody>
      </p:sp>
      <p:sp>
        <p:nvSpPr>
          <p:cNvPr id="3" name="Marcador de Posição do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de texto do modelo global</a:t>
            </a:r>
          </a:p>
        </p:txBody>
      </p:sp>
      <p:sp>
        <p:nvSpPr>
          <p:cNvPr id="4" name="Marcador de Posição de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PT"/>
              <a:t>Clique para 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5" name="Marcador de Posição do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de texto do modelo global</a:t>
            </a:r>
          </a:p>
        </p:txBody>
      </p:sp>
      <p:sp>
        <p:nvSpPr>
          <p:cNvPr id="6" name="Marcador de Posição de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PT"/>
              <a:t>Clique para 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7" name="Marcador de Posição d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3E61B-3AB3-490F-90D4-269C8A444AE7}" type="datetimeFigureOut">
              <a:rPr lang="en-US" smtClean="0"/>
              <a:pPr/>
              <a:t>6/14/2026</a:t>
            </a:fld>
            <a:endParaRPr lang="en-US"/>
          </a:p>
        </p:txBody>
      </p:sp>
      <p:sp>
        <p:nvSpPr>
          <p:cNvPr id="8" name="Marcador de Posição do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Marcador de Posição do Número do Diapositivo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5C66F-FC7B-4C52-931F-EAABACA1CBDF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do título do Modelo Global</a:t>
            </a:r>
            <a:endParaRPr lang="en-US"/>
          </a:p>
        </p:txBody>
      </p:sp>
      <p:sp>
        <p:nvSpPr>
          <p:cNvPr id="3" name="Marcador de Posição d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3E61B-3AB3-490F-90D4-269C8A444AE7}" type="datetimeFigureOut">
              <a:rPr lang="en-US" smtClean="0"/>
              <a:pPr/>
              <a:t>6/14/2026</a:t>
            </a:fld>
            <a:endParaRPr lang="en-US"/>
          </a:p>
        </p:txBody>
      </p:sp>
      <p:sp>
        <p:nvSpPr>
          <p:cNvPr id="4" name="Marcador de Posição do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Marcador de Posição do Número do Diapositivo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5C66F-FC7B-4C52-931F-EAABACA1CBDF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3E61B-3AB3-490F-90D4-269C8A444AE7}" type="datetimeFigureOut">
              <a:rPr lang="en-US" smtClean="0"/>
              <a:pPr/>
              <a:t>6/14/2026</a:t>
            </a:fld>
            <a:endParaRPr lang="en-US"/>
          </a:p>
        </p:txBody>
      </p:sp>
      <p:sp>
        <p:nvSpPr>
          <p:cNvPr id="3" name="Marcador de Posição do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5C66F-FC7B-4C52-931F-EAABACA1CBDF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PT"/>
              <a:t>Clique para editar o estilo do título do Modelo Global</a:t>
            </a:r>
            <a:endParaRPr lang="en-US"/>
          </a:p>
        </p:txBody>
      </p:sp>
      <p:sp>
        <p:nvSpPr>
          <p:cNvPr id="3" name="Marcador de Posição de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PT"/>
              <a:t>Clique para 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4" name="Marcador de Posição do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/>
              <a:t>Clique para editar os estilos de texto do modelo global</a:t>
            </a:r>
          </a:p>
        </p:txBody>
      </p:sp>
      <p:sp>
        <p:nvSpPr>
          <p:cNvPr id="5" name="Marcador de Posição d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3E61B-3AB3-490F-90D4-269C8A444AE7}" type="datetimeFigureOut">
              <a:rPr lang="en-US" smtClean="0"/>
              <a:pPr/>
              <a:t>6/14/2026</a:t>
            </a:fld>
            <a:endParaRPr lang="en-US"/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5C66F-FC7B-4C52-931F-EAABACA1CBDF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PT"/>
              <a:t>Clique para editar o estilo do título do Modelo Global</a:t>
            </a:r>
            <a:endParaRPr lang="en-US"/>
          </a:p>
        </p:txBody>
      </p:sp>
      <p:sp>
        <p:nvSpPr>
          <p:cNvPr id="3" name="Marcador de Posição d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Marcador de Posição do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/>
              <a:t>Clique para editar os estilos de texto do modelo global</a:t>
            </a:r>
          </a:p>
        </p:txBody>
      </p:sp>
      <p:sp>
        <p:nvSpPr>
          <p:cNvPr id="5" name="Marcador de Posição d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3E61B-3AB3-490F-90D4-269C8A444AE7}" type="datetimeFigureOut">
              <a:rPr lang="en-US" smtClean="0"/>
              <a:pPr/>
              <a:t>6/14/2026</a:t>
            </a:fld>
            <a:endParaRPr lang="en-US"/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5C66F-FC7B-4C52-931F-EAABACA1CBDF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do título do Modelo Global</a:t>
            </a:r>
            <a:endParaRPr lang="en-US"/>
          </a:p>
        </p:txBody>
      </p:sp>
      <p:sp>
        <p:nvSpPr>
          <p:cNvPr id="3" name="Marcador de Posição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PT"/>
              <a:t>Clique para 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3E61B-3AB3-490F-90D4-269C8A444AE7}" type="datetimeFigureOut">
              <a:rPr lang="en-US" smtClean="0"/>
              <a:pPr/>
              <a:t>6/14/2026</a:t>
            </a:fld>
            <a:endParaRPr lang="en-US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5C66F-FC7B-4C52-931F-EAABACA1CBDF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PT"/>
              <a:t>Clique para editar o estilo do título do Modelo Global</a:t>
            </a:r>
            <a:endParaRPr lang="en-US"/>
          </a:p>
        </p:txBody>
      </p:sp>
      <p:sp>
        <p:nvSpPr>
          <p:cNvPr id="3" name="Marcador de Posição de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PT"/>
              <a:t>Clique para 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3E61B-3AB3-490F-90D4-269C8A444AE7}" type="datetimeFigureOut">
              <a:rPr lang="en-US" smtClean="0"/>
              <a:pPr/>
              <a:t>6/14/2026</a:t>
            </a:fld>
            <a:endParaRPr lang="en-US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5C66F-FC7B-4C52-931F-EAABACA1CBDF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PT"/>
              <a:t>Clique para editar o estilo do título do Modelo Global</a:t>
            </a:r>
            <a:endParaRPr lang="en-US"/>
          </a:p>
        </p:txBody>
      </p:sp>
      <p:sp>
        <p:nvSpPr>
          <p:cNvPr id="3" name="Marcador de Posição do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PT"/>
              <a:t>Clique para 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A3E61B-3AB3-490F-90D4-269C8A444AE7}" type="datetimeFigureOut">
              <a:rPr lang="en-US" smtClean="0"/>
              <a:pPr/>
              <a:t>6/14/2026</a:t>
            </a:fld>
            <a:endParaRPr lang="en-US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45C66F-FC7B-4C52-931F-EAABACA1CBDF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3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10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3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8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9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7605" y="0"/>
            <a:ext cx="9982200" cy="6858000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828800" y="2405971"/>
            <a:ext cx="5486400" cy="552329"/>
          </a:xfrm>
        </p:spPr>
        <p:txBody>
          <a:bodyPr>
            <a:normAutofit/>
          </a:bodyPr>
          <a:lstStyle/>
          <a:p>
            <a:r>
              <a:rPr lang="pt-PT" sz="2500" b="1" dirty="0" smtClean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AOOP</a:t>
            </a:r>
            <a:endParaRPr lang="pt-PT" sz="2500" b="1" dirty="0">
              <a:solidFill>
                <a:schemeClr val="bg1"/>
              </a:solidFill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2000250" y="4110735"/>
            <a:ext cx="5143500" cy="404742"/>
          </a:xfrm>
        </p:spPr>
        <p:txBody>
          <a:bodyPr>
            <a:normAutofit fontScale="55000" lnSpcReduction="20000"/>
          </a:bodyPr>
          <a:lstStyle/>
          <a:p>
            <a:r>
              <a:rPr lang="pt-PT" dirty="0" smtClean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Aplicação web de filtros faciais em tempo real</a:t>
            </a:r>
            <a:endParaRPr lang="pt-PT" dirty="0">
              <a:solidFill>
                <a:schemeClr val="bg1"/>
              </a:solidFill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6" name="Subtítulo 2"/>
          <p:cNvSpPr txBox="1">
            <a:spLocks/>
          </p:cNvSpPr>
          <p:nvPr/>
        </p:nvSpPr>
        <p:spPr>
          <a:xfrm>
            <a:off x="762000" y="6394330"/>
            <a:ext cx="8191499" cy="276444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PT" sz="1100" b="1" u="sng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Licenciatura em Engenharia Informática</a:t>
            </a:r>
            <a:r>
              <a:rPr lang="pt-PT" sz="1100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 | Escola Superior de Tecnologia e Gestão| Unidade Curricular: </a:t>
            </a:r>
            <a:r>
              <a:rPr lang="pt-PT" sz="1100" dirty="0" smtClean="0">
                <a:highlight>
                  <a:srgbClr val="FFFF00"/>
                </a:highlight>
                <a:latin typeface="Arial" charset="0"/>
                <a:ea typeface="Arial" charset="0"/>
                <a:cs typeface="Arial" charset="0"/>
              </a:rPr>
              <a:t>AOOP </a:t>
            </a:r>
            <a:r>
              <a:rPr lang="pt-PT" sz="1100" dirty="0" smtClean="0">
                <a:latin typeface="Arial" charset="0"/>
                <a:ea typeface="Arial" charset="0"/>
                <a:cs typeface="Arial" charset="0"/>
              </a:rPr>
              <a:t> </a:t>
            </a:r>
            <a:r>
              <a:rPr lang="pt-PT" sz="1100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| Ano Letivo 2025/2026</a:t>
            </a:r>
          </a:p>
        </p:txBody>
      </p:sp>
      <p:pic>
        <p:nvPicPr>
          <p:cNvPr id="7" name="Imagem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4130" y="392731"/>
            <a:ext cx="3872752" cy="962356"/>
          </a:xfrm>
          <a:prstGeom prst="rect">
            <a:avLst/>
          </a:prstGeom>
        </p:spPr>
      </p:pic>
      <p:sp>
        <p:nvSpPr>
          <p:cNvPr id="8" name="Subtítulo 2">
            <a:extLst>
              <a:ext uri="{FF2B5EF4-FFF2-40B4-BE49-F238E27FC236}">
                <a16:creationId xmlns:a16="http://schemas.microsoft.com/office/drawing/2014/main" id="{6D890E14-880C-4963-9EA0-EE9200F689F8}"/>
              </a:ext>
            </a:extLst>
          </p:cNvPr>
          <p:cNvSpPr txBox="1">
            <a:spLocks/>
          </p:cNvSpPr>
          <p:nvPr/>
        </p:nvSpPr>
        <p:spPr>
          <a:xfrm>
            <a:off x="892549" y="5635668"/>
            <a:ext cx="3486150" cy="571436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1100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31406 – Francisco </a:t>
            </a:r>
            <a:r>
              <a:rPr lang="pt-PT" sz="1100" dirty="0" smtClean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Matos;</a:t>
            </a:r>
          </a:p>
          <a:p>
            <a:pPr algn="l"/>
            <a:r>
              <a:rPr lang="pt-PT" sz="1100" dirty="0" smtClean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31377 </a:t>
            </a:r>
            <a:r>
              <a:rPr lang="pt-PT" sz="1100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– </a:t>
            </a:r>
            <a:r>
              <a:rPr lang="pt-PT" sz="1100" dirty="0" smtClean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Paulo Simões;</a:t>
            </a:r>
            <a:endParaRPr lang="pt-PT" sz="1100" dirty="0">
              <a:solidFill>
                <a:schemeClr val="bg1"/>
              </a:solidFill>
              <a:latin typeface="Arial" charset="0"/>
              <a:ea typeface="Arial" charset="0"/>
              <a:cs typeface="Arial" charset="0"/>
            </a:endParaRPr>
          </a:p>
          <a:p>
            <a:pPr algn="l"/>
            <a:endParaRPr lang="pt-PT" sz="1100" dirty="0">
              <a:solidFill>
                <a:schemeClr val="bg1"/>
              </a:solidFill>
              <a:latin typeface="Arial" charset="0"/>
              <a:ea typeface="Arial" charset="0"/>
              <a:cs typeface="Arial" charset="0"/>
            </a:endParaRPr>
          </a:p>
          <a:p>
            <a:pPr algn="l"/>
            <a:endParaRPr lang="pt-PT" sz="1100" dirty="0">
              <a:solidFill>
                <a:schemeClr val="bg1"/>
              </a:solidFill>
              <a:latin typeface="Arial" charset="0"/>
              <a:ea typeface="Arial" charset="0"/>
              <a:cs typeface="Arial" charset="0"/>
            </a:endParaRPr>
          </a:p>
          <a:p>
            <a:pPr algn="l"/>
            <a:endParaRPr lang="pt-PT" sz="1100" dirty="0">
              <a:solidFill>
                <a:schemeClr val="bg1"/>
              </a:solidFill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10" name="Subtítulo 2">
            <a:extLst>
              <a:ext uri="{FF2B5EF4-FFF2-40B4-BE49-F238E27FC236}">
                <a16:creationId xmlns:a16="http://schemas.microsoft.com/office/drawing/2014/main" id="{CDB7617E-BD9F-40A8-BCFA-781CEC4CEE46}"/>
              </a:ext>
            </a:extLst>
          </p:cNvPr>
          <p:cNvSpPr txBox="1">
            <a:spLocks/>
          </p:cNvSpPr>
          <p:nvPr/>
        </p:nvSpPr>
        <p:spPr>
          <a:xfrm>
            <a:off x="4953495" y="5615784"/>
            <a:ext cx="3486150" cy="571436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1050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Orientador(</a:t>
            </a:r>
            <a:r>
              <a:rPr lang="pt-PT" sz="1050" dirty="0" err="1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es</a:t>
            </a:r>
            <a:r>
              <a:rPr lang="pt-PT" sz="1050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): 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pt-PT" sz="1050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Professor </a:t>
            </a:r>
            <a:r>
              <a:rPr lang="pt-PT" sz="1050" dirty="0" smtClean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Abel Dantas</a:t>
            </a:r>
            <a:endParaRPr lang="pt-PT" sz="1050" dirty="0">
              <a:solidFill>
                <a:schemeClr val="bg1"/>
              </a:solidFill>
              <a:latin typeface="Arial" charset="0"/>
              <a:ea typeface="Arial" charset="0"/>
              <a:cs typeface="Arial" charset="0"/>
            </a:endParaRPr>
          </a:p>
          <a:p>
            <a:pPr algn="l"/>
            <a:endParaRPr lang="pt-PT" sz="1050" dirty="0">
              <a:solidFill>
                <a:schemeClr val="bg1"/>
              </a:solidFill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802F2A86-A50E-0283-3B8A-EB9B059E210D}"/>
              </a:ext>
            </a:extLst>
          </p:cNvPr>
          <p:cNvSpPr txBox="1"/>
          <p:nvPr/>
        </p:nvSpPr>
        <p:spPr>
          <a:xfrm>
            <a:off x="838200" y="1273976"/>
            <a:ext cx="92667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sz="1800" b="1" u="sng" dirty="0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</a:rPr>
              <a:t>Licenciatura em ENGENHARIA INFORMÁTICA / </a:t>
            </a:r>
            <a:r>
              <a:rPr lang="pt-PT" sz="1800" b="1" u="sng" dirty="0" err="1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</a:rPr>
              <a:t>Degree</a:t>
            </a:r>
            <a:r>
              <a:rPr lang="pt-PT" sz="1800" b="1" u="sng" dirty="0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</a:rPr>
              <a:t> </a:t>
            </a:r>
            <a:r>
              <a:rPr lang="pt-PT" sz="1800" b="1" cap="all" dirty="0" err="1">
                <a:solidFill>
                  <a:srgbClr val="FFFF00"/>
                </a:solidFill>
              </a:rPr>
              <a:t>Informatics</a:t>
            </a:r>
            <a:r>
              <a:rPr lang="pt-PT" sz="1800" b="1" cap="all" dirty="0">
                <a:solidFill>
                  <a:srgbClr val="FFFF00"/>
                </a:solidFill>
              </a:rPr>
              <a:t> </a:t>
            </a:r>
            <a:r>
              <a:rPr lang="pt-PT" sz="1800" b="1" cap="all" dirty="0" err="1">
                <a:solidFill>
                  <a:srgbClr val="FFFF00"/>
                </a:solidFill>
              </a:rPr>
              <a:t>engineering</a:t>
            </a:r>
            <a:endParaRPr lang="pt-PT" dirty="0">
              <a:solidFill>
                <a:srgbClr val="FFFF00"/>
              </a:solidFill>
            </a:endParaRPr>
          </a:p>
        </p:txBody>
      </p:sp>
      <p:sp>
        <p:nvSpPr>
          <p:cNvPr id="12" name="Título 1">
            <a:extLst>
              <a:ext uri="{FF2B5EF4-FFF2-40B4-BE49-F238E27FC236}">
                <a16:creationId xmlns:a16="http://schemas.microsoft.com/office/drawing/2014/main" id="{3331B8A6-B954-F04D-0378-7F3DD744E30A}"/>
              </a:ext>
            </a:extLst>
          </p:cNvPr>
          <p:cNvSpPr txBox="1">
            <a:spLocks/>
          </p:cNvSpPr>
          <p:nvPr/>
        </p:nvSpPr>
        <p:spPr>
          <a:xfrm>
            <a:off x="1981200" y="3267584"/>
            <a:ext cx="5486400" cy="5523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2500" b="1" dirty="0" smtClean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AR Face </a:t>
            </a:r>
            <a:r>
              <a:rPr lang="pt-PT" sz="2500" b="1" dirty="0" err="1" smtClean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Filters</a:t>
            </a:r>
            <a:endParaRPr lang="pt-PT" sz="2500" b="1" dirty="0">
              <a:solidFill>
                <a:schemeClr val="bg1"/>
              </a:solidFill>
              <a:latin typeface="Arial" charset="0"/>
              <a:ea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23015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Text Box 10"/>
          <p:cNvSpPr txBox="1">
            <a:spLocks noChangeArrowheads="1"/>
          </p:cNvSpPr>
          <p:nvPr/>
        </p:nvSpPr>
        <p:spPr bwMode="auto">
          <a:xfrm>
            <a:off x="8288338" y="6296025"/>
            <a:ext cx="8270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pt-PT"/>
          </a:p>
        </p:txBody>
      </p:sp>
      <p:sp>
        <p:nvSpPr>
          <p:cNvPr id="10244" name="Rectangle 11"/>
          <p:cNvSpPr>
            <a:spLocks noChangeArrowheads="1"/>
          </p:cNvSpPr>
          <p:nvPr/>
        </p:nvSpPr>
        <p:spPr bwMode="auto">
          <a:xfrm>
            <a:off x="8327571" y="6496091"/>
            <a:ext cx="9366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pt-PT" sz="1000" dirty="0"/>
              <a:t>- </a:t>
            </a:r>
            <a:fld id="{1234D2FF-8FB9-47A1-B8C9-42A5F500BA2F}" type="slidenum">
              <a:rPr lang="pt-PT" sz="1000"/>
              <a:pPr algn="ctr"/>
              <a:t>2</a:t>
            </a:fld>
            <a:r>
              <a:rPr lang="pt-PT" sz="1000" dirty="0"/>
              <a:t> -</a:t>
            </a:r>
          </a:p>
        </p:txBody>
      </p:sp>
      <p:sp>
        <p:nvSpPr>
          <p:cNvPr id="9229" name="Text Box 13"/>
          <p:cNvSpPr txBox="1">
            <a:spLocks noChangeArrowheads="1"/>
          </p:cNvSpPr>
          <p:nvPr/>
        </p:nvSpPr>
        <p:spPr bwMode="auto">
          <a:xfrm>
            <a:off x="306388" y="557213"/>
            <a:ext cx="698182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■</a:t>
            </a:r>
            <a:r>
              <a:rPr lang="pt-PT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Índice</a:t>
            </a:r>
            <a:endParaRPr lang="pt-PT" sz="2000" b="1" dirty="0"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10247" name="Line 15"/>
          <p:cNvSpPr>
            <a:spLocks noChangeShapeType="1"/>
          </p:cNvSpPr>
          <p:nvPr/>
        </p:nvSpPr>
        <p:spPr bwMode="auto">
          <a:xfrm>
            <a:off x="250825" y="0"/>
            <a:ext cx="0" cy="765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PT"/>
          </a:p>
        </p:txBody>
      </p:sp>
      <p:sp>
        <p:nvSpPr>
          <p:cNvPr id="9237" name="Text Box 21"/>
          <p:cNvSpPr txBox="1">
            <a:spLocks noChangeArrowheads="1"/>
          </p:cNvSpPr>
          <p:nvPr/>
        </p:nvSpPr>
        <p:spPr bwMode="auto">
          <a:xfrm>
            <a:off x="381001" y="44450"/>
            <a:ext cx="6138752" cy="5309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1200" b="1" dirty="0" smtClean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AOOP </a:t>
            </a: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– </a:t>
            </a:r>
            <a:r>
              <a:rPr lang="pt-PT" sz="1200" b="1" dirty="0" smtClean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AR Face </a:t>
            </a:r>
            <a:r>
              <a:rPr lang="pt-PT" sz="1200" b="1" dirty="0" err="1" smtClean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Filters</a:t>
            </a:r>
            <a:endParaRPr lang="pt-PT" sz="1200" b="1" dirty="0" smtClean="0">
              <a:solidFill>
                <a:srgbClr val="FF33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  <a:p>
            <a:pPr>
              <a:spcBef>
                <a:spcPct val="50000"/>
              </a:spcBef>
              <a:defRPr/>
            </a:pPr>
            <a:r>
              <a:rPr lang="pt-PT" sz="1100" b="1" dirty="0" smtClean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Aplicação web de filtros faciais em tempo real</a:t>
            </a:r>
            <a:endParaRPr lang="pt-PT" sz="1100" b="1" dirty="0">
              <a:solidFill>
                <a:srgbClr val="FF33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19" name="Marcador de Posição de Conteúdo 2"/>
          <p:cNvSpPr txBox="1">
            <a:spLocks/>
          </p:cNvSpPr>
          <p:nvPr/>
        </p:nvSpPr>
        <p:spPr>
          <a:xfrm>
            <a:off x="457200" y="1219200"/>
            <a:ext cx="8229600" cy="493776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pt-PT" dirty="0" err="1">
                <a:latin typeface="Arial" pitchFamily="34" charset="0"/>
                <a:cs typeface="Arial" pitchFamily="34" charset="0"/>
              </a:rPr>
              <a:t>Introdu</a:t>
            </a:r>
            <a:r>
              <a:rPr lang="pt-BR" dirty="0">
                <a:latin typeface="Arial" pitchFamily="34" charset="0"/>
                <a:cs typeface="Arial" pitchFamily="34" charset="0"/>
              </a:rPr>
              <a:t>ção</a:t>
            </a:r>
            <a:endParaRPr lang="pt-PT" dirty="0">
              <a:latin typeface="Arial" pitchFamily="34" charset="0"/>
              <a:cs typeface="Arial" pitchFamily="34" charset="0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pt-PT" dirty="0">
                <a:latin typeface="Arial" pitchFamily="34" charset="0"/>
                <a:cs typeface="Arial" pitchFamily="34" charset="0"/>
              </a:rPr>
              <a:t>Objetivos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pt-PT" dirty="0" smtClean="0">
                <a:latin typeface="Arial" pitchFamily="34" charset="0"/>
                <a:cs typeface="Arial" pitchFamily="34" charset="0"/>
              </a:rPr>
              <a:t>Tecnologias utilizadas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Deteção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Facial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Filtros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2D</a:t>
            </a:r>
          </a:p>
          <a:p>
            <a:pPr marL="342900" indent="-342900">
              <a:lnSpc>
                <a:spcPct val="150000"/>
              </a:lnSpc>
              <a:buFontTx/>
              <a:buAutoNum type="arabicPeriod"/>
            </a:pP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Filtros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3D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Efeitos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Visuais</a:t>
            </a:r>
            <a:endParaRPr lang="en-US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Ajustes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, presets e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combinações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buAutoNum type="arabicPeriod" startAt="9"/>
            </a:pPr>
            <a:r>
              <a:rPr lang="en-US" dirty="0" err="1" smtClean="0">
                <a:latin typeface="Arial" pitchFamily="34" charset="0"/>
                <a:cs typeface="Arial" pitchFamily="34" charset="0"/>
              </a:rPr>
              <a:t>Captura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 de </a:t>
            </a:r>
            <a:r>
              <a:rPr lang="en-US" dirty="0" err="1" smtClean="0">
                <a:latin typeface="Arial" pitchFamily="34" charset="0"/>
                <a:cs typeface="Arial" pitchFamily="34" charset="0"/>
              </a:rPr>
              <a:t>fotografia</a:t>
            </a:r>
            <a:endParaRPr lang="en-US" dirty="0" smtClean="0">
              <a:latin typeface="Arial" pitchFamily="34" charset="0"/>
              <a:cs typeface="Arial" pitchFamily="34" charset="0"/>
            </a:endParaRPr>
          </a:p>
          <a:p>
            <a:pPr marL="342900" indent="-342900">
              <a:lnSpc>
                <a:spcPct val="150000"/>
              </a:lnSpc>
              <a:buAutoNum type="arabicPeriod" startAt="9"/>
            </a:pPr>
            <a:r>
              <a:rPr lang="en-US" dirty="0" err="1" smtClean="0">
                <a:latin typeface="Arial" pitchFamily="34" charset="0"/>
                <a:cs typeface="Arial" pitchFamily="34" charset="0"/>
              </a:rPr>
              <a:t>Limitações</a:t>
            </a:r>
            <a:endParaRPr lang="en-US" dirty="0" smtClean="0">
              <a:latin typeface="Arial" pitchFamily="34" charset="0"/>
              <a:cs typeface="Arial" pitchFamily="34" charset="0"/>
            </a:endParaRPr>
          </a:p>
          <a:p>
            <a:pPr marL="342900" indent="-342900">
              <a:lnSpc>
                <a:spcPct val="150000"/>
              </a:lnSpc>
              <a:buAutoNum type="arabicPeriod" startAt="9"/>
            </a:pPr>
            <a:r>
              <a:rPr lang="en-US" dirty="0" err="1" smtClean="0">
                <a:latin typeface="Arial" pitchFamily="34" charset="0"/>
                <a:cs typeface="Arial" pitchFamily="34" charset="0"/>
              </a:rPr>
              <a:t>Melhorias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dirty="0" err="1" smtClean="0">
                <a:latin typeface="Arial" pitchFamily="34" charset="0"/>
                <a:cs typeface="Arial" pitchFamily="34" charset="0"/>
              </a:rPr>
              <a:t>futuras</a:t>
            </a:r>
            <a:endParaRPr lang="en-US" dirty="0" smtClean="0">
              <a:latin typeface="Arial" pitchFamily="34" charset="0"/>
              <a:cs typeface="Arial" pitchFamily="34" charset="0"/>
            </a:endParaRPr>
          </a:p>
          <a:p>
            <a:pPr marL="342900" indent="-342900">
              <a:lnSpc>
                <a:spcPct val="150000"/>
              </a:lnSpc>
              <a:buAutoNum type="arabicPeriod" startAt="9"/>
            </a:pPr>
            <a:r>
              <a:rPr lang="en-US" dirty="0" err="1" smtClean="0">
                <a:latin typeface="Arial" pitchFamily="34" charset="0"/>
                <a:cs typeface="Arial" pitchFamily="34" charset="0"/>
              </a:rPr>
              <a:t>Conclusão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 </a:t>
            </a:r>
            <a:endParaRPr lang="en-US" dirty="0">
              <a:latin typeface="Arial" pitchFamily="34" charset="0"/>
              <a:cs typeface="Arial" pitchFamily="34" charset="0"/>
            </a:endParaRPr>
          </a:p>
          <a:p>
            <a:pPr>
              <a:lnSpc>
                <a:spcPct val="200000"/>
              </a:lnSpc>
              <a:spcBef>
                <a:spcPct val="20000"/>
              </a:spcBef>
            </a:pPr>
            <a:endParaRPr lang="pt-PT" sz="2000" dirty="0">
              <a:latin typeface="Arial" pitchFamily="34" charset="0"/>
              <a:cs typeface="Arial" pitchFamily="34" charset="0"/>
            </a:endParaRPr>
          </a:p>
          <a:p>
            <a:pPr lvl="0">
              <a:lnSpc>
                <a:spcPct val="200000"/>
              </a:lnSpc>
              <a:spcBef>
                <a:spcPct val="20000"/>
              </a:spcBef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457200" marR="0" lvl="1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457200" marR="0" lvl="1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54D42837-E70D-4C64-A8A7-E7F751502B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5" y="904241"/>
            <a:ext cx="9014192" cy="26648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81982921-1900-46B5-BE82-07BECCD639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20212"/>
            <a:ext cx="9144000" cy="253252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BE263CB9-5E3B-4385-9450-974CDF0F6C7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488336"/>
            <a:ext cx="545959" cy="199802"/>
          </a:xfrm>
          <a:prstGeom prst="rect">
            <a:avLst/>
          </a:prstGeom>
        </p:spPr>
      </p:pic>
      <p:sp>
        <p:nvSpPr>
          <p:cNvPr id="3" name="Rectângulo 19">
            <a:extLst>
              <a:ext uri="{FF2B5EF4-FFF2-40B4-BE49-F238E27FC236}">
                <a16:creationId xmlns:a16="http://schemas.microsoft.com/office/drawing/2014/main" id="{850208AF-C5A5-C009-177D-8C27BB5DCC8B}"/>
              </a:ext>
            </a:extLst>
          </p:cNvPr>
          <p:cNvSpPr/>
          <p:nvPr/>
        </p:nvSpPr>
        <p:spPr>
          <a:xfrm>
            <a:off x="5535613" y="553019"/>
            <a:ext cx="3505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PT" sz="1100" b="1" cap="all" dirty="0" err="1">
                <a:highlight>
                  <a:srgbClr val="FFFF00"/>
                </a:highlight>
              </a:rPr>
              <a:t>Degree</a:t>
            </a:r>
            <a:r>
              <a:rPr lang="pt-PT" sz="1100" b="1" cap="all" dirty="0">
                <a:highlight>
                  <a:srgbClr val="FFFF00"/>
                </a:highlight>
              </a:rPr>
              <a:t> IN </a:t>
            </a:r>
            <a:r>
              <a:rPr lang="pt-PT" sz="1100" b="1" cap="all" dirty="0" err="1">
                <a:highlight>
                  <a:srgbClr val="FFFF00"/>
                </a:highlight>
              </a:rPr>
              <a:t>Informatics</a:t>
            </a:r>
            <a:r>
              <a:rPr lang="pt-PT" sz="1100" b="1" cap="all" dirty="0">
                <a:highlight>
                  <a:srgbClr val="FFFF00"/>
                </a:highlight>
              </a:rPr>
              <a:t> </a:t>
            </a:r>
            <a:r>
              <a:rPr lang="pt-PT" sz="1100" b="1" cap="all" dirty="0" err="1">
                <a:highlight>
                  <a:srgbClr val="FFFF00"/>
                </a:highlight>
              </a:rPr>
              <a:t>engineering</a:t>
            </a:r>
            <a:endParaRPr lang="pt-PT" sz="1100" dirty="0">
              <a:highlight>
                <a:srgbClr val="FFFF00"/>
              </a:highlight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4B69841B-4743-42E9-837A-73B87FC5C8C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5316" y="9186"/>
            <a:ext cx="2575034" cy="639880"/>
          </a:xfrm>
          <a:prstGeom prst="rect">
            <a:avLst/>
          </a:prstGeom>
        </p:spPr>
      </p:pic>
      <p:sp>
        <p:nvSpPr>
          <p:cNvPr id="2" name="Subtítulo 2">
            <a:extLst>
              <a:ext uri="{FF2B5EF4-FFF2-40B4-BE49-F238E27FC236}">
                <a16:creationId xmlns:a16="http://schemas.microsoft.com/office/drawing/2014/main" id="{50369DE4-0D6E-7A10-AF37-333F300DD770}"/>
              </a:ext>
            </a:extLst>
          </p:cNvPr>
          <p:cNvSpPr txBox="1">
            <a:spLocks/>
          </p:cNvSpPr>
          <p:nvPr/>
        </p:nvSpPr>
        <p:spPr>
          <a:xfrm>
            <a:off x="836017" y="6524516"/>
            <a:ext cx="7698382" cy="162409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900" dirty="0">
                <a:latin typeface="Arial" charset="0"/>
                <a:ea typeface="Arial" charset="0"/>
                <a:cs typeface="Arial" charset="0"/>
              </a:rPr>
              <a:t>Francisco </a:t>
            </a:r>
            <a:r>
              <a:rPr lang="pt-PT" sz="900" dirty="0" smtClean="0">
                <a:latin typeface="Arial" charset="0"/>
                <a:ea typeface="Arial" charset="0"/>
                <a:cs typeface="Arial" charset="0"/>
              </a:rPr>
              <a:t>Matos, Paulo </a:t>
            </a:r>
            <a:r>
              <a:rPr lang="pt-PT" sz="900" dirty="0" err="1" smtClean="0">
                <a:latin typeface="Arial" charset="0"/>
                <a:ea typeface="Arial" charset="0"/>
                <a:cs typeface="Arial" charset="0"/>
              </a:rPr>
              <a:t>SImões</a:t>
            </a:r>
            <a:r>
              <a:rPr lang="pt-PT" sz="900" dirty="0" smtClean="0">
                <a:latin typeface="Arial" charset="0"/>
                <a:ea typeface="Arial" charset="0"/>
                <a:cs typeface="Arial" charset="0"/>
              </a:rPr>
              <a:t> </a:t>
            </a:r>
            <a:r>
              <a:rPr lang="pt-PT" sz="900" dirty="0">
                <a:latin typeface="Arial" charset="0"/>
                <a:ea typeface="Arial" charset="0"/>
                <a:cs typeface="Arial" charset="0"/>
              </a:rPr>
              <a:t>| </a:t>
            </a:r>
            <a:r>
              <a:rPr lang="pt-PT" sz="900" b="1" dirty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Unidade Curricular: </a:t>
            </a:r>
            <a:r>
              <a:rPr lang="pt-PT" sz="900" b="1" dirty="0" smtClean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AOOP </a:t>
            </a:r>
            <a:r>
              <a:rPr lang="pt-PT" sz="900" dirty="0">
                <a:latin typeface="Arial" charset="0"/>
                <a:ea typeface="Arial" charset="0"/>
                <a:cs typeface="Arial" charset="0"/>
              </a:rPr>
              <a:t>– Ano Letivo 2025/2026 – </a:t>
            </a:r>
            <a:r>
              <a:rPr lang="pt-PT" sz="900" b="1" dirty="0" smtClean="0">
                <a:latin typeface="Arial" charset="0"/>
                <a:ea typeface="Arial" charset="0"/>
                <a:cs typeface="Arial" charset="0"/>
              </a:rPr>
              <a:t>AR Face </a:t>
            </a:r>
            <a:r>
              <a:rPr lang="pt-PT" sz="900" b="1" dirty="0" err="1" smtClean="0">
                <a:latin typeface="Arial" charset="0"/>
                <a:ea typeface="Arial" charset="0"/>
                <a:cs typeface="Arial" charset="0"/>
              </a:rPr>
              <a:t>Filters</a:t>
            </a:r>
            <a:endParaRPr lang="pt-PT" sz="900" b="1" dirty="0">
              <a:latin typeface="Arial" charset="0"/>
              <a:ea typeface="Arial" charset="0"/>
              <a:cs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Text Box 10"/>
          <p:cNvSpPr txBox="1">
            <a:spLocks noChangeArrowheads="1"/>
          </p:cNvSpPr>
          <p:nvPr/>
        </p:nvSpPr>
        <p:spPr bwMode="auto">
          <a:xfrm>
            <a:off x="8288338" y="6296025"/>
            <a:ext cx="8270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pt-PT"/>
          </a:p>
        </p:txBody>
      </p:sp>
      <p:sp>
        <p:nvSpPr>
          <p:cNvPr id="10244" name="Rectangle 11"/>
          <p:cNvSpPr>
            <a:spLocks noChangeArrowheads="1"/>
          </p:cNvSpPr>
          <p:nvPr/>
        </p:nvSpPr>
        <p:spPr bwMode="auto">
          <a:xfrm>
            <a:off x="8327571" y="6496091"/>
            <a:ext cx="9366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pt-PT" sz="1000" dirty="0"/>
              <a:t>- </a:t>
            </a:r>
            <a:fld id="{1234D2FF-8FB9-47A1-B8C9-42A5F500BA2F}" type="slidenum">
              <a:rPr lang="pt-PT" sz="1000"/>
              <a:pPr algn="ctr"/>
              <a:t>3</a:t>
            </a:fld>
            <a:r>
              <a:rPr lang="pt-PT" sz="1000" dirty="0"/>
              <a:t> -</a:t>
            </a:r>
          </a:p>
        </p:txBody>
      </p:sp>
      <p:sp>
        <p:nvSpPr>
          <p:cNvPr id="9229" name="Text Box 13"/>
          <p:cNvSpPr txBox="1">
            <a:spLocks noChangeArrowheads="1"/>
          </p:cNvSpPr>
          <p:nvPr/>
        </p:nvSpPr>
        <p:spPr bwMode="auto">
          <a:xfrm>
            <a:off x="306388" y="557213"/>
            <a:ext cx="698182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■</a:t>
            </a:r>
            <a:r>
              <a:rPr lang="pt-PT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</a:t>
            </a:r>
            <a:r>
              <a:rPr lang="pt-PT" sz="2000" b="1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Introdução</a:t>
            </a:r>
            <a:endParaRPr lang="pt-PT" sz="2000" b="1" dirty="0"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10247" name="Line 15"/>
          <p:cNvSpPr>
            <a:spLocks noChangeShapeType="1"/>
          </p:cNvSpPr>
          <p:nvPr/>
        </p:nvSpPr>
        <p:spPr bwMode="auto">
          <a:xfrm>
            <a:off x="250825" y="0"/>
            <a:ext cx="0" cy="765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PT"/>
          </a:p>
        </p:txBody>
      </p:sp>
      <p:sp>
        <p:nvSpPr>
          <p:cNvPr id="9237" name="Text Box 21"/>
          <p:cNvSpPr txBox="1">
            <a:spLocks noChangeArrowheads="1"/>
          </p:cNvSpPr>
          <p:nvPr/>
        </p:nvSpPr>
        <p:spPr bwMode="auto">
          <a:xfrm>
            <a:off x="381001" y="44450"/>
            <a:ext cx="6138752" cy="5309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1200" b="1" dirty="0" smtClean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AOOP </a:t>
            </a: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– </a:t>
            </a:r>
            <a:r>
              <a:rPr lang="pt-PT" sz="1200" b="1" dirty="0" smtClean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AR Face </a:t>
            </a:r>
            <a:r>
              <a:rPr lang="pt-PT" sz="1200" b="1" dirty="0" err="1" smtClean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Filters</a:t>
            </a:r>
            <a:endParaRPr lang="pt-PT" sz="1200" b="1" dirty="0" smtClean="0">
              <a:solidFill>
                <a:srgbClr val="FF33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  <a:p>
            <a:pPr>
              <a:spcBef>
                <a:spcPct val="50000"/>
              </a:spcBef>
              <a:defRPr/>
            </a:pPr>
            <a:r>
              <a:rPr lang="pt-PT" sz="1100" b="1" dirty="0" smtClean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Aplicação web de filtros faciais em tempo real</a:t>
            </a:r>
            <a:endParaRPr lang="pt-PT" sz="1100" b="1" dirty="0">
              <a:solidFill>
                <a:srgbClr val="FF33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19" name="Marcador de Posição de Conteúdo 2"/>
          <p:cNvSpPr txBox="1">
            <a:spLocks/>
          </p:cNvSpPr>
          <p:nvPr/>
        </p:nvSpPr>
        <p:spPr>
          <a:xfrm>
            <a:off x="457200" y="1219200"/>
            <a:ext cx="8229600" cy="49377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200000"/>
              </a:lnSpc>
              <a:spcBef>
                <a:spcPct val="20000"/>
              </a:spcBef>
            </a:pPr>
            <a:endParaRPr lang="pt-PT" sz="2000" dirty="0">
              <a:latin typeface="Arial" pitchFamily="34" charset="0"/>
              <a:cs typeface="Arial" pitchFamily="34" charset="0"/>
            </a:endParaRPr>
          </a:p>
          <a:p>
            <a:pPr lvl="0">
              <a:lnSpc>
                <a:spcPct val="200000"/>
              </a:lnSpc>
              <a:spcBef>
                <a:spcPct val="20000"/>
              </a:spcBef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457200" marR="0" lvl="1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457200" marR="0" lvl="1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54D42837-E70D-4C64-A8A7-E7F751502B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5" y="904241"/>
            <a:ext cx="9014192" cy="26648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81982921-1900-46B5-BE82-07BECCD639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20212"/>
            <a:ext cx="9144000" cy="253252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BE263CB9-5E3B-4385-9450-974CDF0F6C7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488336"/>
            <a:ext cx="545959" cy="199802"/>
          </a:xfrm>
          <a:prstGeom prst="rect">
            <a:avLst/>
          </a:prstGeom>
        </p:spPr>
      </p:pic>
      <p:sp>
        <p:nvSpPr>
          <p:cNvPr id="3" name="Rectângulo 19">
            <a:extLst>
              <a:ext uri="{FF2B5EF4-FFF2-40B4-BE49-F238E27FC236}">
                <a16:creationId xmlns:a16="http://schemas.microsoft.com/office/drawing/2014/main" id="{850208AF-C5A5-C009-177D-8C27BB5DCC8B}"/>
              </a:ext>
            </a:extLst>
          </p:cNvPr>
          <p:cNvSpPr/>
          <p:nvPr/>
        </p:nvSpPr>
        <p:spPr>
          <a:xfrm>
            <a:off x="5535613" y="553019"/>
            <a:ext cx="3505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PT" sz="1100" b="1" cap="all" dirty="0" err="1">
                <a:highlight>
                  <a:srgbClr val="FFFF00"/>
                </a:highlight>
              </a:rPr>
              <a:t>Degree</a:t>
            </a:r>
            <a:r>
              <a:rPr lang="pt-PT" sz="1100" b="1" cap="all" dirty="0">
                <a:highlight>
                  <a:srgbClr val="FFFF00"/>
                </a:highlight>
              </a:rPr>
              <a:t> IN </a:t>
            </a:r>
            <a:r>
              <a:rPr lang="pt-PT" sz="1100" b="1" cap="all" dirty="0" err="1">
                <a:highlight>
                  <a:srgbClr val="FFFF00"/>
                </a:highlight>
              </a:rPr>
              <a:t>Informatics</a:t>
            </a:r>
            <a:r>
              <a:rPr lang="pt-PT" sz="1100" b="1" cap="all" dirty="0">
                <a:highlight>
                  <a:srgbClr val="FFFF00"/>
                </a:highlight>
              </a:rPr>
              <a:t> </a:t>
            </a:r>
            <a:r>
              <a:rPr lang="pt-PT" sz="1100" b="1" cap="all" dirty="0" err="1">
                <a:highlight>
                  <a:srgbClr val="FFFF00"/>
                </a:highlight>
              </a:rPr>
              <a:t>engineering</a:t>
            </a:r>
            <a:endParaRPr lang="pt-PT" sz="1100" dirty="0">
              <a:highlight>
                <a:srgbClr val="FFFF00"/>
              </a:highlight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4B69841B-4743-42E9-837A-73B87FC5C8C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5316" y="9186"/>
            <a:ext cx="2575034" cy="639880"/>
          </a:xfrm>
          <a:prstGeom prst="rect">
            <a:avLst/>
          </a:prstGeom>
        </p:spPr>
      </p:pic>
      <p:sp>
        <p:nvSpPr>
          <p:cNvPr id="2" name="Subtítulo 2">
            <a:extLst>
              <a:ext uri="{FF2B5EF4-FFF2-40B4-BE49-F238E27FC236}">
                <a16:creationId xmlns:a16="http://schemas.microsoft.com/office/drawing/2014/main" id="{50369DE4-0D6E-7A10-AF37-333F300DD770}"/>
              </a:ext>
            </a:extLst>
          </p:cNvPr>
          <p:cNvSpPr txBox="1">
            <a:spLocks/>
          </p:cNvSpPr>
          <p:nvPr/>
        </p:nvSpPr>
        <p:spPr>
          <a:xfrm>
            <a:off x="836017" y="6524516"/>
            <a:ext cx="7698382" cy="162409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900" dirty="0">
                <a:latin typeface="Arial" charset="0"/>
                <a:ea typeface="Arial" charset="0"/>
                <a:cs typeface="Arial" charset="0"/>
              </a:rPr>
              <a:t>Francisco </a:t>
            </a:r>
            <a:r>
              <a:rPr lang="pt-PT" sz="900" dirty="0" smtClean="0">
                <a:latin typeface="Arial" charset="0"/>
                <a:ea typeface="Arial" charset="0"/>
                <a:cs typeface="Arial" charset="0"/>
              </a:rPr>
              <a:t>Matos, Paulo </a:t>
            </a:r>
            <a:r>
              <a:rPr lang="pt-PT" sz="900" dirty="0" err="1" smtClean="0">
                <a:latin typeface="Arial" charset="0"/>
                <a:ea typeface="Arial" charset="0"/>
                <a:cs typeface="Arial" charset="0"/>
              </a:rPr>
              <a:t>SImões</a:t>
            </a:r>
            <a:r>
              <a:rPr lang="pt-PT" sz="900" dirty="0" smtClean="0">
                <a:latin typeface="Arial" charset="0"/>
                <a:ea typeface="Arial" charset="0"/>
                <a:cs typeface="Arial" charset="0"/>
              </a:rPr>
              <a:t> </a:t>
            </a:r>
            <a:r>
              <a:rPr lang="pt-PT" sz="900" dirty="0">
                <a:latin typeface="Arial" charset="0"/>
                <a:ea typeface="Arial" charset="0"/>
                <a:cs typeface="Arial" charset="0"/>
              </a:rPr>
              <a:t>| </a:t>
            </a:r>
            <a:r>
              <a:rPr lang="pt-PT" sz="900" b="1" dirty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Unidade Curricular: </a:t>
            </a:r>
            <a:r>
              <a:rPr lang="pt-PT" sz="900" b="1" dirty="0" smtClean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AOOP </a:t>
            </a:r>
            <a:r>
              <a:rPr lang="pt-PT" sz="900" dirty="0">
                <a:latin typeface="Arial" charset="0"/>
                <a:ea typeface="Arial" charset="0"/>
                <a:cs typeface="Arial" charset="0"/>
              </a:rPr>
              <a:t>– Ano Letivo 2025/2026 – </a:t>
            </a:r>
            <a:r>
              <a:rPr lang="pt-PT" sz="900" b="1" dirty="0" smtClean="0">
                <a:latin typeface="Arial" charset="0"/>
                <a:ea typeface="Arial" charset="0"/>
                <a:cs typeface="Arial" charset="0"/>
              </a:rPr>
              <a:t>AR Face </a:t>
            </a:r>
            <a:r>
              <a:rPr lang="pt-PT" sz="900" b="1" dirty="0" err="1" smtClean="0">
                <a:latin typeface="Arial" charset="0"/>
                <a:ea typeface="Arial" charset="0"/>
                <a:cs typeface="Arial" charset="0"/>
              </a:rPr>
              <a:t>Filters</a:t>
            </a:r>
            <a:endParaRPr lang="pt-PT" sz="900" b="1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4" name="CaixaDeTexto 3"/>
          <p:cNvSpPr txBox="1"/>
          <p:nvPr/>
        </p:nvSpPr>
        <p:spPr>
          <a:xfrm>
            <a:off x="250825" y="1170723"/>
            <a:ext cx="8664575" cy="4062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PT" sz="1600" dirty="0">
                <a:latin typeface="Arial" panose="020B0604020202020204" pitchFamily="34" charset="0"/>
                <a:cs typeface="Arial" panose="020B0604020202020204" pitchFamily="34" charset="0"/>
              </a:rPr>
              <a:t>O projeto AR Face </a:t>
            </a:r>
            <a:r>
              <a:rPr lang="pt-PT" sz="1600" dirty="0" err="1">
                <a:latin typeface="Arial" panose="020B0604020202020204" pitchFamily="34" charset="0"/>
                <a:cs typeface="Arial" panose="020B0604020202020204" pitchFamily="34" charset="0"/>
              </a:rPr>
              <a:t>Filters</a:t>
            </a:r>
            <a:r>
              <a:rPr lang="pt-PT" sz="1600" dirty="0">
                <a:latin typeface="Arial" panose="020B0604020202020204" pitchFamily="34" charset="0"/>
                <a:cs typeface="Arial" panose="020B0604020202020204" pitchFamily="34" charset="0"/>
              </a:rPr>
              <a:t> consiste no desenvolvimento de uma aplicação web interativa capaz de aplicar filtros faciais em tempo real através da webcam. A aplicação utiliza técnicas de deteção facial para identificar pontos de referência do rosto e, a partir desses pontos, posicionar filtros visuais em zonas específicas como a cabeça, os olhos, a boca e a face completa.</a:t>
            </a:r>
          </a:p>
          <a:p>
            <a:pPr algn="just">
              <a:lnSpc>
                <a:spcPct val="150000"/>
              </a:lnSpc>
            </a:pPr>
            <a:r>
              <a:rPr lang="pt-PT" sz="1600" dirty="0">
                <a:latin typeface="Arial" panose="020B0604020202020204" pitchFamily="34" charset="0"/>
                <a:cs typeface="Arial" panose="020B0604020202020204" pitchFamily="34" charset="0"/>
              </a:rPr>
              <a:t>O principal objetivo do projeto foi explorar conceitos de visão por computador e realidade aumentada no browser, criando uma experiência semelhante às aplicações de filtros faciais usadas em redes sociais. Para isso, foram utilizadas tecnologias como </a:t>
            </a:r>
            <a:r>
              <a:rPr lang="pt-PT" sz="1600" dirty="0" err="1">
                <a:latin typeface="Arial" panose="020B0604020202020204" pitchFamily="34" charset="0"/>
                <a:cs typeface="Arial" panose="020B0604020202020204" pitchFamily="34" charset="0"/>
              </a:rPr>
              <a:t>MediaPipe</a:t>
            </a:r>
            <a:r>
              <a:rPr lang="pt-PT" sz="16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pt-PT" sz="1600" dirty="0" err="1">
                <a:latin typeface="Arial" panose="020B0604020202020204" pitchFamily="34" charset="0"/>
                <a:cs typeface="Arial" panose="020B0604020202020204" pitchFamily="34" charset="0"/>
              </a:rPr>
              <a:t>Canvas</a:t>
            </a:r>
            <a:r>
              <a:rPr lang="pt-PT" sz="1600" dirty="0">
                <a:latin typeface="Arial" panose="020B0604020202020204" pitchFamily="34" charset="0"/>
                <a:cs typeface="Arial" panose="020B0604020202020204" pitchFamily="34" charset="0"/>
              </a:rPr>
              <a:t> 2D, Three.js e </a:t>
            </a:r>
            <a:r>
              <a:rPr lang="pt-PT" sz="1600" dirty="0" err="1">
                <a:latin typeface="Arial" panose="020B0604020202020204" pitchFamily="34" charset="0"/>
                <a:cs typeface="Arial" panose="020B0604020202020204" pitchFamily="34" charset="0"/>
              </a:rPr>
              <a:t>WebGL</a:t>
            </a:r>
            <a:r>
              <a:rPr lang="pt-PT" sz="1600" dirty="0">
                <a:latin typeface="Arial" panose="020B0604020202020204" pitchFamily="34" charset="0"/>
                <a:cs typeface="Arial" panose="020B0604020202020204" pitchFamily="34" charset="0"/>
              </a:rPr>
              <a:t>, permitindo combinar filtros 2D, modelos 3D, efeitos visuais, ajustes personalizados, </a:t>
            </a:r>
            <a:r>
              <a:rPr lang="pt-PT" sz="1600" dirty="0" err="1">
                <a:latin typeface="Arial" panose="020B0604020202020204" pitchFamily="34" charset="0"/>
                <a:cs typeface="Arial" panose="020B0604020202020204" pitchFamily="34" charset="0"/>
              </a:rPr>
              <a:t>presets</a:t>
            </a:r>
            <a:r>
              <a:rPr lang="pt-PT" sz="1600" dirty="0">
                <a:latin typeface="Arial" panose="020B0604020202020204" pitchFamily="34" charset="0"/>
                <a:cs typeface="Arial" panose="020B0604020202020204" pitchFamily="34" charset="0"/>
              </a:rPr>
              <a:t> e captura de fotografia.</a:t>
            </a:r>
          </a:p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3456522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Text Box 10"/>
          <p:cNvSpPr txBox="1">
            <a:spLocks noChangeArrowheads="1"/>
          </p:cNvSpPr>
          <p:nvPr/>
        </p:nvSpPr>
        <p:spPr bwMode="auto">
          <a:xfrm>
            <a:off x="8288338" y="6296025"/>
            <a:ext cx="8270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pt-PT"/>
          </a:p>
        </p:txBody>
      </p:sp>
      <p:sp>
        <p:nvSpPr>
          <p:cNvPr id="10244" name="Rectangle 11"/>
          <p:cNvSpPr>
            <a:spLocks noChangeArrowheads="1"/>
          </p:cNvSpPr>
          <p:nvPr/>
        </p:nvSpPr>
        <p:spPr bwMode="auto">
          <a:xfrm>
            <a:off x="8327571" y="6496091"/>
            <a:ext cx="9366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pt-PT" sz="1000" dirty="0"/>
              <a:t>- </a:t>
            </a:r>
            <a:fld id="{1234D2FF-8FB9-47A1-B8C9-42A5F500BA2F}" type="slidenum">
              <a:rPr lang="pt-PT" sz="1000"/>
              <a:pPr algn="ctr"/>
              <a:t>4</a:t>
            </a:fld>
            <a:r>
              <a:rPr lang="pt-PT" sz="1000" dirty="0"/>
              <a:t> -</a:t>
            </a:r>
          </a:p>
        </p:txBody>
      </p:sp>
      <p:sp>
        <p:nvSpPr>
          <p:cNvPr id="9229" name="Text Box 13"/>
          <p:cNvSpPr txBox="1">
            <a:spLocks noChangeArrowheads="1"/>
          </p:cNvSpPr>
          <p:nvPr/>
        </p:nvSpPr>
        <p:spPr bwMode="auto">
          <a:xfrm>
            <a:off x="306388" y="557213"/>
            <a:ext cx="698182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■</a:t>
            </a:r>
            <a:r>
              <a:rPr lang="pt-PT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</a:t>
            </a:r>
            <a:r>
              <a:rPr lang="pt-PT" sz="2000" b="1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Objetivos</a:t>
            </a:r>
            <a:endParaRPr lang="pt-PT" sz="2000" b="1" dirty="0"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10247" name="Line 15"/>
          <p:cNvSpPr>
            <a:spLocks noChangeShapeType="1"/>
          </p:cNvSpPr>
          <p:nvPr/>
        </p:nvSpPr>
        <p:spPr bwMode="auto">
          <a:xfrm>
            <a:off x="250825" y="0"/>
            <a:ext cx="0" cy="765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PT"/>
          </a:p>
        </p:txBody>
      </p:sp>
      <p:sp>
        <p:nvSpPr>
          <p:cNvPr id="9237" name="Text Box 21"/>
          <p:cNvSpPr txBox="1">
            <a:spLocks noChangeArrowheads="1"/>
          </p:cNvSpPr>
          <p:nvPr/>
        </p:nvSpPr>
        <p:spPr bwMode="auto">
          <a:xfrm>
            <a:off x="381001" y="44450"/>
            <a:ext cx="6138752" cy="5309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1200" b="1" dirty="0" smtClean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AOOP </a:t>
            </a: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– </a:t>
            </a:r>
            <a:r>
              <a:rPr lang="pt-PT" sz="1200" b="1" dirty="0" smtClean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AR Face </a:t>
            </a:r>
            <a:r>
              <a:rPr lang="pt-PT" sz="1200" b="1" dirty="0" err="1" smtClean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Filters</a:t>
            </a:r>
            <a:endParaRPr lang="pt-PT" sz="1200" b="1" dirty="0" smtClean="0">
              <a:solidFill>
                <a:srgbClr val="FF33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  <a:p>
            <a:pPr>
              <a:spcBef>
                <a:spcPct val="50000"/>
              </a:spcBef>
              <a:defRPr/>
            </a:pPr>
            <a:r>
              <a:rPr lang="pt-PT" sz="1100" b="1" dirty="0" smtClean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Aplicação web de filtros faciais em tempo real</a:t>
            </a:r>
            <a:endParaRPr lang="pt-PT" sz="1100" b="1" dirty="0">
              <a:solidFill>
                <a:srgbClr val="FF33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19" name="Marcador de Posição de Conteúdo 2"/>
          <p:cNvSpPr txBox="1">
            <a:spLocks/>
          </p:cNvSpPr>
          <p:nvPr/>
        </p:nvSpPr>
        <p:spPr>
          <a:xfrm>
            <a:off x="457200" y="1219200"/>
            <a:ext cx="8229600" cy="49377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200000"/>
              </a:lnSpc>
              <a:spcBef>
                <a:spcPct val="20000"/>
              </a:spcBef>
            </a:pPr>
            <a:endParaRPr lang="pt-PT" sz="2000" dirty="0">
              <a:latin typeface="Arial" pitchFamily="34" charset="0"/>
              <a:cs typeface="Arial" pitchFamily="34" charset="0"/>
            </a:endParaRPr>
          </a:p>
          <a:p>
            <a:pPr lvl="0">
              <a:lnSpc>
                <a:spcPct val="200000"/>
              </a:lnSpc>
              <a:spcBef>
                <a:spcPct val="20000"/>
              </a:spcBef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457200" marR="0" lvl="1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457200" marR="0" lvl="1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54D42837-E70D-4C64-A8A7-E7F751502B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5" y="904241"/>
            <a:ext cx="9014192" cy="26648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81982921-1900-46B5-BE82-07BECCD639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20212"/>
            <a:ext cx="9144000" cy="253252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BE263CB9-5E3B-4385-9450-974CDF0F6C7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488336"/>
            <a:ext cx="545959" cy="199802"/>
          </a:xfrm>
          <a:prstGeom prst="rect">
            <a:avLst/>
          </a:prstGeom>
        </p:spPr>
      </p:pic>
      <p:sp>
        <p:nvSpPr>
          <p:cNvPr id="3" name="Rectângulo 19">
            <a:extLst>
              <a:ext uri="{FF2B5EF4-FFF2-40B4-BE49-F238E27FC236}">
                <a16:creationId xmlns:a16="http://schemas.microsoft.com/office/drawing/2014/main" id="{850208AF-C5A5-C009-177D-8C27BB5DCC8B}"/>
              </a:ext>
            </a:extLst>
          </p:cNvPr>
          <p:cNvSpPr/>
          <p:nvPr/>
        </p:nvSpPr>
        <p:spPr>
          <a:xfrm>
            <a:off x="5535613" y="553019"/>
            <a:ext cx="3505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PT" sz="1100" b="1" cap="all" dirty="0" err="1">
                <a:highlight>
                  <a:srgbClr val="FFFF00"/>
                </a:highlight>
              </a:rPr>
              <a:t>Degree</a:t>
            </a:r>
            <a:r>
              <a:rPr lang="pt-PT" sz="1100" b="1" cap="all" dirty="0">
                <a:highlight>
                  <a:srgbClr val="FFFF00"/>
                </a:highlight>
              </a:rPr>
              <a:t> IN </a:t>
            </a:r>
            <a:r>
              <a:rPr lang="pt-PT" sz="1100" b="1" cap="all" dirty="0" err="1">
                <a:highlight>
                  <a:srgbClr val="FFFF00"/>
                </a:highlight>
              </a:rPr>
              <a:t>Informatics</a:t>
            </a:r>
            <a:r>
              <a:rPr lang="pt-PT" sz="1100" b="1" cap="all" dirty="0">
                <a:highlight>
                  <a:srgbClr val="FFFF00"/>
                </a:highlight>
              </a:rPr>
              <a:t> </a:t>
            </a:r>
            <a:r>
              <a:rPr lang="pt-PT" sz="1100" b="1" cap="all" dirty="0" err="1">
                <a:highlight>
                  <a:srgbClr val="FFFF00"/>
                </a:highlight>
              </a:rPr>
              <a:t>engineering</a:t>
            </a:r>
            <a:endParaRPr lang="pt-PT" sz="1100" dirty="0">
              <a:highlight>
                <a:srgbClr val="FFFF00"/>
              </a:highlight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4B69841B-4743-42E9-837A-73B87FC5C8C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5316" y="9186"/>
            <a:ext cx="2575034" cy="639880"/>
          </a:xfrm>
          <a:prstGeom prst="rect">
            <a:avLst/>
          </a:prstGeom>
        </p:spPr>
      </p:pic>
      <p:sp>
        <p:nvSpPr>
          <p:cNvPr id="2" name="Subtítulo 2">
            <a:extLst>
              <a:ext uri="{FF2B5EF4-FFF2-40B4-BE49-F238E27FC236}">
                <a16:creationId xmlns:a16="http://schemas.microsoft.com/office/drawing/2014/main" id="{50369DE4-0D6E-7A10-AF37-333F300DD770}"/>
              </a:ext>
            </a:extLst>
          </p:cNvPr>
          <p:cNvSpPr txBox="1">
            <a:spLocks/>
          </p:cNvSpPr>
          <p:nvPr/>
        </p:nvSpPr>
        <p:spPr>
          <a:xfrm>
            <a:off x="836017" y="6524516"/>
            <a:ext cx="7698382" cy="162409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900" dirty="0">
                <a:latin typeface="Arial" charset="0"/>
                <a:ea typeface="Arial" charset="0"/>
                <a:cs typeface="Arial" charset="0"/>
              </a:rPr>
              <a:t>Francisco </a:t>
            </a:r>
            <a:r>
              <a:rPr lang="pt-PT" sz="900" dirty="0" smtClean="0">
                <a:latin typeface="Arial" charset="0"/>
                <a:ea typeface="Arial" charset="0"/>
                <a:cs typeface="Arial" charset="0"/>
              </a:rPr>
              <a:t>Matos, Paulo </a:t>
            </a:r>
            <a:r>
              <a:rPr lang="pt-PT" sz="900" dirty="0" err="1" smtClean="0">
                <a:latin typeface="Arial" charset="0"/>
                <a:ea typeface="Arial" charset="0"/>
                <a:cs typeface="Arial" charset="0"/>
              </a:rPr>
              <a:t>SImões</a:t>
            </a:r>
            <a:r>
              <a:rPr lang="pt-PT" sz="900" dirty="0" smtClean="0">
                <a:latin typeface="Arial" charset="0"/>
                <a:ea typeface="Arial" charset="0"/>
                <a:cs typeface="Arial" charset="0"/>
              </a:rPr>
              <a:t> </a:t>
            </a:r>
            <a:r>
              <a:rPr lang="pt-PT" sz="900" dirty="0">
                <a:latin typeface="Arial" charset="0"/>
                <a:ea typeface="Arial" charset="0"/>
                <a:cs typeface="Arial" charset="0"/>
              </a:rPr>
              <a:t>| </a:t>
            </a:r>
            <a:r>
              <a:rPr lang="pt-PT" sz="900" b="1" dirty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Unidade Curricular: </a:t>
            </a:r>
            <a:r>
              <a:rPr lang="pt-PT" sz="900" b="1" dirty="0" smtClean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AOOP </a:t>
            </a:r>
            <a:r>
              <a:rPr lang="pt-PT" sz="900" dirty="0">
                <a:latin typeface="Arial" charset="0"/>
                <a:ea typeface="Arial" charset="0"/>
                <a:cs typeface="Arial" charset="0"/>
              </a:rPr>
              <a:t>– Ano Letivo 2025/2026 – </a:t>
            </a:r>
            <a:r>
              <a:rPr lang="pt-PT" sz="900" b="1" dirty="0" smtClean="0">
                <a:latin typeface="Arial" charset="0"/>
                <a:ea typeface="Arial" charset="0"/>
                <a:cs typeface="Arial" charset="0"/>
              </a:rPr>
              <a:t>AR Face </a:t>
            </a:r>
            <a:r>
              <a:rPr lang="pt-PT" sz="900" b="1" dirty="0" err="1" smtClean="0">
                <a:latin typeface="Arial" charset="0"/>
                <a:ea typeface="Arial" charset="0"/>
                <a:cs typeface="Arial" charset="0"/>
              </a:rPr>
              <a:t>Filters</a:t>
            </a:r>
            <a:endParaRPr lang="pt-PT" sz="900" b="1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4" name="CaixaDeTexto 3"/>
          <p:cNvSpPr txBox="1"/>
          <p:nvPr/>
        </p:nvSpPr>
        <p:spPr>
          <a:xfrm>
            <a:off x="306388" y="1219200"/>
            <a:ext cx="8532812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t-PT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Objetivo principal</a:t>
            </a:r>
            <a:r>
              <a:rPr lang="pt-PT" sz="1600" b="1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pt-PT" sz="1600" dirty="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pt-PT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PT" sz="1600" dirty="0">
                <a:latin typeface="Arial" panose="020B0604020202020204" pitchFamily="34" charset="0"/>
                <a:cs typeface="Arial" panose="020B0604020202020204" pitchFamily="34" charset="0"/>
              </a:rPr>
              <a:t>Desenvolver uma aplicação interativa capaz de detetar a face do utilizador e aplicar filtros visuais em tempo real</a:t>
            </a:r>
            <a:r>
              <a:rPr lang="pt-PT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>
              <a:lnSpc>
                <a:spcPct val="150000"/>
              </a:lnSpc>
            </a:pPr>
            <a:endParaRPr lang="pt-PT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pt-PT" sz="1600" b="1" dirty="0">
                <a:latin typeface="Arial" panose="020B0604020202020204" pitchFamily="34" charset="0"/>
                <a:cs typeface="Arial" panose="020B0604020202020204" pitchFamily="34" charset="0"/>
              </a:rPr>
              <a:t>Objetivos específicos:</a:t>
            </a:r>
            <a:endParaRPr lang="pt-PT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pt-PT" sz="1600" dirty="0">
                <a:latin typeface="Arial" panose="020B0604020202020204" pitchFamily="34" charset="0"/>
                <a:cs typeface="Arial" panose="020B0604020202020204" pitchFamily="34" charset="0"/>
              </a:rPr>
              <a:t>Utilizar a webcam para captar vídeo em direto.</a:t>
            </a:r>
          </a:p>
          <a:p>
            <a:pPr>
              <a:lnSpc>
                <a:spcPct val="150000"/>
              </a:lnSpc>
            </a:pPr>
            <a:r>
              <a:rPr lang="pt-PT" sz="1600" dirty="0">
                <a:latin typeface="Arial" panose="020B0604020202020204" pitchFamily="34" charset="0"/>
                <a:cs typeface="Arial" panose="020B0604020202020204" pitchFamily="34" charset="0"/>
              </a:rPr>
              <a:t>Detetar </a:t>
            </a:r>
            <a:r>
              <a:rPr lang="pt-PT" sz="1600" dirty="0" err="1">
                <a:latin typeface="Arial" panose="020B0604020202020204" pitchFamily="34" charset="0"/>
                <a:cs typeface="Arial" panose="020B0604020202020204" pitchFamily="34" charset="0"/>
              </a:rPr>
              <a:t>landmarks</a:t>
            </a:r>
            <a:r>
              <a:rPr lang="pt-PT" sz="1600" dirty="0">
                <a:latin typeface="Arial" panose="020B0604020202020204" pitchFamily="34" charset="0"/>
                <a:cs typeface="Arial" panose="020B0604020202020204" pitchFamily="34" charset="0"/>
              </a:rPr>
              <a:t> faciais.</a:t>
            </a:r>
          </a:p>
          <a:p>
            <a:pPr>
              <a:lnSpc>
                <a:spcPct val="150000"/>
              </a:lnSpc>
            </a:pPr>
            <a:r>
              <a:rPr lang="pt-PT" sz="1600" dirty="0">
                <a:latin typeface="Arial" panose="020B0604020202020204" pitchFamily="34" charset="0"/>
                <a:cs typeface="Arial" panose="020B0604020202020204" pitchFamily="34" charset="0"/>
              </a:rPr>
              <a:t>Aplicar filtros 2D sobre zonas específicas da face.</a:t>
            </a:r>
          </a:p>
          <a:p>
            <a:pPr>
              <a:lnSpc>
                <a:spcPct val="150000"/>
              </a:lnSpc>
            </a:pPr>
            <a:r>
              <a:rPr lang="pt-PT" sz="1600" dirty="0">
                <a:latin typeface="Arial" panose="020B0604020202020204" pitchFamily="34" charset="0"/>
                <a:cs typeface="Arial" panose="020B0604020202020204" pitchFamily="34" charset="0"/>
              </a:rPr>
              <a:t>Integrar filtros 3D com modelos GLB.</a:t>
            </a:r>
          </a:p>
          <a:p>
            <a:pPr>
              <a:lnSpc>
                <a:spcPct val="150000"/>
              </a:lnSpc>
            </a:pPr>
            <a:r>
              <a:rPr lang="pt-PT" sz="1600" dirty="0">
                <a:latin typeface="Arial" panose="020B0604020202020204" pitchFamily="34" charset="0"/>
                <a:cs typeface="Arial" panose="020B0604020202020204" pitchFamily="34" charset="0"/>
              </a:rPr>
              <a:t>Permitir ajustes manuais dos filtros.</a:t>
            </a:r>
          </a:p>
          <a:p>
            <a:pPr>
              <a:lnSpc>
                <a:spcPct val="150000"/>
              </a:lnSpc>
            </a:pPr>
            <a:r>
              <a:rPr lang="pt-PT" sz="1600" dirty="0">
                <a:latin typeface="Arial" panose="020B0604020202020204" pitchFamily="34" charset="0"/>
                <a:cs typeface="Arial" panose="020B0604020202020204" pitchFamily="34" charset="0"/>
              </a:rPr>
              <a:t>Capturar fotografias com os filtros aplicados.</a:t>
            </a:r>
          </a:p>
          <a:p>
            <a:endParaRPr lang="pt-PT" dirty="0"/>
          </a:p>
        </p:txBody>
      </p:sp>
      <p:pic>
        <p:nvPicPr>
          <p:cNvPr id="10242" name="Picture 2" descr="Objetivo Imagens – Download Grátis no Magnific (antes Freepik)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0" y="2362200"/>
            <a:ext cx="3070225" cy="3070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770007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Text Box 10"/>
          <p:cNvSpPr txBox="1">
            <a:spLocks noChangeArrowheads="1"/>
          </p:cNvSpPr>
          <p:nvPr/>
        </p:nvSpPr>
        <p:spPr bwMode="auto">
          <a:xfrm>
            <a:off x="8288338" y="6296025"/>
            <a:ext cx="8270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pt-PT"/>
          </a:p>
        </p:txBody>
      </p:sp>
      <p:sp>
        <p:nvSpPr>
          <p:cNvPr id="10244" name="Rectangle 11"/>
          <p:cNvSpPr>
            <a:spLocks noChangeArrowheads="1"/>
          </p:cNvSpPr>
          <p:nvPr/>
        </p:nvSpPr>
        <p:spPr bwMode="auto">
          <a:xfrm>
            <a:off x="8327571" y="6496091"/>
            <a:ext cx="9366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pt-PT" sz="1000" dirty="0"/>
              <a:t>- </a:t>
            </a:r>
            <a:fld id="{1234D2FF-8FB9-47A1-B8C9-42A5F500BA2F}" type="slidenum">
              <a:rPr lang="pt-PT" sz="1000"/>
              <a:pPr algn="ctr"/>
              <a:t>5</a:t>
            </a:fld>
            <a:r>
              <a:rPr lang="pt-PT" sz="1000" dirty="0"/>
              <a:t> -</a:t>
            </a:r>
          </a:p>
        </p:txBody>
      </p:sp>
      <p:sp>
        <p:nvSpPr>
          <p:cNvPr id="9229" name="Text Box 13"/>
          <p:cNvSpPr txBox="1">
            <a:spLocks noChangeArrowheads="1"/>
          </p:cNvSpPr>
          <p:nvPr/>
        </p:nvSpPr>
        <p:spPr bwMode="auto">
          <a:xfrm>
            <a:off x="306388" y="557213"/>
            <a:ext cx="698182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■</a:t>
            </a:r>
            <a:r>
              <a:rPr lang="pt-PT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</a:t>
            </a:r>
            <a:r>
              <a:rPr lang="pt-PT" sz="2000" b="1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Tecnologias utilizadas</a:t>
            </a:r>
            <a:endParaRPr lang="pt-PT" sz="2000" b="1" dirty="0"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10247" name="Line 15"/>
          <p:cNvSpPr>
            <a:spLocks noChangeShapeType="1"/>
          </p:cNvSpPr>
          <p:nvPr/>
        </p:nvSpPr>
        <p:spPr bwMode="auto">
          <a:xfrm>
            <a:off x="250825" y="0"/>
            <a:ext cx="0" cy="765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PT"/>
          </a:p>
        </p:txBody>
      </p:sp>
      <p:sp>
        <p:nvSpPr>
          <p:cNvPr id="9237" name="Text Box 21"/>
          <p:cNvSpPr txBox="1">
            <a:spLocks noChangeArrowheads="1"/>
          </p:cNvSpPr>
          <p:nvPr/>
        </p:nvSpPr>
        <p:spPr bwMode="auto">
          <a:xfrm>
            <a:off x="381001" y="44450"/>
            <a:ext cx="6138752" cy="5309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1200" b="1" dirty="0" smtClean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AOOP </a:t>
            </a: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– </a:t>
            </a:r>
            <a:r>
              <a:rPr lang="pt-PT" sz="1200" b="1" dirty="0" smtClean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AR Face </a:t>
            </a:r>
            <a:r>
              <a:rPr lang="pt-PT" sz="1200" b="1" dirty="0" err="1" smtClean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Filters</a:t>
            </a:r>
            <a:endParaRPr lang="pt-PT" sz="1200" b="1" dirty="0" smtClean="0">
              <a:solidFill>
                <a:srgbClr val="FF33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  <a:p>
            <a:pPr>
              <a:spcBef>
                <a:spcPct val="50000"/>
              </a:spcBef>
              <a:defRPr/>
            </a:pPr>
            <a:r>
              <a:rPr lang="pt-PT" sz="1100" b="1" dirty="0" smtClean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Aplicação web de filtros faciais em tempo real</a:t>
            </a:r>
            <a:endParaRPr lang="pt-PT" sz="1100" b="1" dirty="0">
              <a:solidFill>
                <a:srgbClr val="FF33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19" name="Marcador de Posição de Conteúdo 2"/>
          <p:cNvSpPr txBox="1">
            <a:spLocks/>
          </p:cNvSpPr>
          <p:nvPr/>
        </p:nvSpPr>
        <p:spPr>
          <a:xfrm>
            <a:off x="457200" y="1219200"/>
            <a:ext cx="8229600" cy="49377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200000"/>
              </a:lnSpc>
              <a:spcBef>
                <a:spcPct val="20000"/>
              </a:spcBef>
            </a:pPr>
            <a:endParaRPr lang="pt-PT" sz="2000" dirty="0">
              <a:latin typeface="Arial" pitchFamily="34" charset="0"/>
              <a:cs typeface="Arial" pitchFamily="34" charset="0"/>
            </a:endParaRPr>
          </a:p>
          <a:p>
            <a:pPr lvl="0">
              <a:lnSpc>
                <a:spcPct val="200000"/>
              </a:lnSpc>
              <a:spcBef>
                <a:spcPct val="20000"/>
              </a:spcBef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457200" marR="0" lvl="1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457200" marR="0" lvl="1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54D42837-E70D-4C64-A8A7-E7F751502B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5" y="904241"/>
            <a:ext cx="9014192" cy="26648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81982921-1900-46B5-BE82-07BECCD639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20212"/>
            <a:ext cx="9144000" cy="253252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BE263CB9-5E3B-4385-9450-974CDF0F6C7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488336"/>
            <a:ext cx="545959" cy="199802"/>
          </a:xfrm>
          <a:prstGeom prst="rect">
            <a:avLst/>
          </a:prstGeom>
        </p:spPr>
      </p:pic>
      <p:sp>
        <p:nvSpPr>
          <p:cNvPr id="3" name="Rectângulo 19">
            <a:extLst>
              <a:ext uri="{FF2B5EF4-FFF2-40B4-BE49-F238E27FC236}">
                <a16:creationId xmlns:a16="http://schemas.microsoft.com/office/drawing/2014/main" id="{850208AF-C5A5-C009-177D-8C27BB5DCC8B}"/>
              </a:ext>
            </a:extLst>
          </p:cNvPr>
          <p:cNvSpPr/>
          <p:nvPr/>
        </p:nvSpPr>
        <p:spPr>
          <a:xfrm>
            <a:off x="5535613" y="553019"/>
            <a:ext cx="3505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PT" sz="1100" b="1" cap="all" dirty="0" err="1">
                <a:highlight>
                  <a:srgbClr val="FFFF00"/>
                </a:highlight>
              </a:rPr>
              <a:t>Degree</a:t>
            </a:r>
            <a:r>
              <a:rPr lang="pt-PT" sz="1100" b="1" cap="all" dirty="0">
                <a:highlight>
                  <a:srgbClr val="FFFF00"/>
                </a:highlight>
              </a:rPr>
              <a:t> IN </a:t>
            </a:r>
            <a:r>
              <a:rPr lang="pt-PT" sz="1100" b="1" cap="all" dirty="0" err="1">
                <a:highlight>
                  <a:srgbClr val="FFFF00"/>
                </a:highlight>
              </a:rPr>
              <a:t>Informatics</a:t>
            </a:r>
            <a:r>
              <a:rPr lang="pt-PT" sz="1100" b="1" cap="all" dirty="0">
                <a:highlight>
                  <a:srgbClr val="FFFF00"/>
                </a:highlight>
              </a:rPr>
              <a:t> </a:t>
            </a:r>
            <a:r>
              <a:rPr lang="pt-PT" sz="1100" b="1" cap="all" dirty="0" err="1">
                <a:highlight>
                  <a:srgbClr val="FFFF00"/>
                </a:highlight>
              </a:rPr>
              <a:t>engineering</a:t>
            </a:r>
            <a:endParaRPr lang="pt-PT" sz="1100" dirty="0">
              <a:highlight>
                <a:srgbClr val="FFFF00"/>
              </a:highlight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4B69841B-4743-42E9-837A-73B87FC5C8C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5316" y="9186"/>
            <a:ext cx="2575034" cy="639880"/>
          </a:xfrm>
          <a:prstGeom prst="rect">
            <a:avLst/>
          </a:prstGeom>
        </p:spPr>
      </p:pic>
      <p:sp>
        <p:nvSpPr>
          <p:cNvPr id="2" name="Subtítulo 2">
            <a:extLst>
              <a:ext uri="{FF2B5EF4-FFF2-40B4-BE49-F238E27FC236}">
                <a16:creationId xmlns:a16="http://schemas.microsoft.com/office/drawing/2014/main" id="{50369DE4-0D6E-7A10-AF37-333F300DD770}"/>
              </a:ext>
            </a:extLst>
          </p:cNvPr>
          <p:cNvSpPr txBox="1">
            <a:spLocks/>
          </p:cNvSpPr>
          <p:nvPr/>
        </p:nvSpPr>
        <p:spPr>
          <a:xfrm>
            <a:off x="836017" y="6524516"/>
            <a:ext cx="7698382" cy="162409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900" dirty="0">
                <a:latin typeface="Arial" charset="0"/>
                <a:ea typeface="Arial" charset="0"/>
                <a:cs typeface="Arial" charset="0"/>
              </a:rPr>
              <a:t>Francisco </a:t>
            </a:r>
            <a:r>
              <a:rPr lang="pt-PT" sz="900" dirty="0" smtClean="0">
                <a:latin typeface="Arial" charset="0"/>
                <a:ea typeface="Arial" charset="0"/>
                <a:cs typeface="Arial" charset="0"/>
              </a:rPr>
              <a:t>Matos, Paulo </a:t>
            </a:r>
            <a:r>
              <a:rPr lang="pt-PT" sz="900" dirty="0" err="1" smtClean="0">
                <a:latin typeface="Arial" charset="0"/>
                <a:ea typeface="Arial" charset="0"/>
                <a:cs typeface="Arial" charset="0"/>
              </a:rPr>
              <a:t>SImões</a:t>
            </a:r>
            <a:r>
              <a:rPr lang="pt-PT" sz="900" dirty="0" smtClean="0">
                <a:latin typeface="Arial" charset="0"/>
                <a:ea typeface="Arial" charset="0"/>
                <a:cs typeface="Arial" charset="0"/>
              </a:rPr>
              <a:t> </a:t>
            </a:r>
            <a:r>
              <a:rPr lang="pt-PT" sz="900" dirty="0">
                <a:latin typeface="Arial" charset="0"/>
                <a:ea typeface="Arial" charset="0"/>
                <a:cs typeface="Arial" charset="0"/>
              </a:rPr>
              <a:t>| </a:t>
            </a:r>
            <a:r>
              <a:rPr lang="pt-PT" sz="900" b="1" dirty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Unidade Curricular: </a:t>
            </a:r>
            <a:r>
              <a:rPr lang="pt-PT" sz="900" b="1" dirty="0" smtClean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AOOP </a:t>
            </a:r>
            <a:r>
              <a:rPr lang="pt-PT" sz="900" dirty="0">
                <a:latin typeface="Arial" charset="0"/>
                <a:ea typeface="Arial" charset="0"/>
                <a:cs typeface="Arial" charset="0"/>
              </a:rPr>
              <a:t>– Ano Letivo 2025/2026 – </a:t>
            </a:r>
            <a:r>
              <a:rPr lang="pt-PT" sz="900" b="1" dirty="0" smtClean="0">
                <a:latin typeface="Arial" charset="0"/>
                <a:ea typeface="Arial" charset="0"/>
                <a:cs typeface="Arial" charset="0"/>
              </a:rPr>
              <a:t>AR Face </a:t>
            </a:r>
            <a:r>
              <a:rPr lang="pt-PT" sz="900" b="1" dirty="0" err="1" smtClean="0">
                <a:latin typeface="Arial" charset="0"/>
                <a:ea typeface="Arial" charset="0"/>
                <a:cs typeface="Arial" charset="0"/>
              </a:rPr>
              <a:t>Filters</a:t>
            </a:r>
            <a:endParaRPr lang="pt-PT" sz="900" b="1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6" name="CaixaDeTexto 5"/>
          <p:cNvSpPr txBox="1"/>
          <p:nvPr/>
        </p:nvSpPr>
        <p:spPr>
          <a:xfrm>
            <a:off x="250825" y="1219200"/>
            <a:ext cx="8588375" cy="4196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Tecnologias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principais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>
              <a:lnSpc>
                <a:spcPct val="150000"/>
              </a:lnSpc>
            </a:pPr>
            <a:endParaRPr lang="en-US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HTML5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CSS3 e 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JavaScript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MediaPipe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Tasks 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Vision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FaceLandmarker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Canvas 2D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Three.js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WebGL</a:t>
            </a:r>
            <a:endParaRPr lang="en-US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LocalStorage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Modelos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3D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em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formato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GLB</a:t>
            </a:r>
            <a:endParaRPr lang="pt-PT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27" name="Picture 3" descr="HTML5 – Wikipédia, a enciclopédia livre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5799" y="1200656"/>
            <a:ext cx="1185044" cy="11850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9" name="Picture 5" descr="Ficheiro:CSS3 logo and wordmark.svg – Wikipédia, a enciclopédia livre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30809" y="2628201"/>
            <a:ext cx="927434" cy="1309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AutoShape 7" descr="JavaScript | Coding Help Wiki | Fandom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PT"/>
          </a:p>
        </p:txBody>
      </p:sp>
      <p:pic>
        <p:nvPicPr>
          <p:cNvPr id="1035" name="Picture 11" descr="O que é Javascript e por que ele é necessário para o site People Like Us? |  People Like Us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4639" y="4283207"/>
            <a:ext cx="2214561" cy="12235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141225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Text Box 10"/>
          <p:cNvSpPr txBox="1">
            <a:spLocks noChangeArrowheads="1"/>
          </p:cNvSpPr>
          <p:nvPr/>
        </p:nvSpPr>
        <p:spPr bwMode="auto">
          <a:xfrm>
            <a:off x="8288338" y="6296025"/>
            <a:ext cx="8270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pt-PT"/>
          </a:p>
        </p:txBody>
      </p:sp>
      <p:sp>
        <p:nvSpPr>
          <p:cNvPr id="10244" name="Rectangle 11"/>
          <p:cNvSpPr>
            <a:spLocks noChangeArrowheads="1"/>
          </p:cNvSpPr>
          <p:nvPr/>
        </p:nvSpPr>
        <p:spPr bwMode="auto">
          <a:xfrm>
            <a:off x="8327571" y="6496091"/>
            <a:ext cx="9366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pt-PT" sz="1000" dirty="0"/>
              <a:t>- </a:t>
            </a:r>
            <a:fld id="{1234D2FF-8FB9-47A1-B8C9-42A5F500BA2F}" type="slidenum">
              <a:rPr lang="pt-PT" sz="1000"/>
              <a:pPr algn="ctr"/>
              <a:t>6</a:t>
            </a:fld>
            <a:r>
              <a:rPr lang="pt-PT" sz="1000" dirty="0"/>
              <a:t> -</a:t>
            </a:r>
          </a:p>
        </p:txBody>
      </p:sp>
      <p:sp>
        <p:nvSpPr>
          <p:cNvPr id="9229" name="Text Box 13"/>
          <p:cNvSpPr txBox="1">
            <a:spLocks noChangeArrowheads="1"/>
          </p:cNvSpPr>
          <p:nvPr/>
        </p:nvSpPr>
        <p:spPr bwMode="auto">
          <a:xfrm>
            <a:off x="306388" y="557213"/>
            <a:ext cx="698182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■</a:t>
            </a:r>
            <a:r>
              <a:rPr lang="pt-PT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</a:t>
            </a:r>
            <a:r>
              <a:rPr lang="pt-PT" sz="2000" b="1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Deteção Facial</a:t>
            </a:r>
            <a:endParaRPr lang="pt-PT" sz="2000" b="1" dirty="0"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10247" name="Line 15"/>
          <p:cNvSpPr>
            <a:spLocks noChangeShapeType="1"/>
          </p:cNvSpPr>
          <p:nvPr/>
        </p:nvSpPr>
        <p:spPr bwMode="auto">
          <a:xfrm>
            <a:off x="250825" y="0"/>
            <a:ext cx="0" cy="765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PT"/>
          </a:p>
        </p:txBody>
      </p:sp>
      <p:sp>
        <p:nvSpPr>
          <p:cNvPr id="9237" name="Text Box 21"/>
          <p:cNvSpPr txBox="1">
            <a:spLocks noChangeArrowheads="1"/>
          </p:cNvSpPr>
          <p:nvPr/>
        </p:nvSpPr>
        <p:spPr bwMode="auto">
          <a:xfrm>
            <a:off x="381001" y="44450"/>
            <a:ext cx="6138752" cy="5309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1200" b="1" dirty="0" smtClean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AOOP </a:t>
            </a: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– </a:t>
            </a:r>
            <a:r>
              <a:rPr lang="pt-PT" sz="1200" b="1" dirty="0" smtClean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AR Face </a:t>
            </a:r>
            <a:r>
              <a:rPr lang="pt-PT" sz="1200" b="1" dirty="0" err="1" smtClean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Filters</a:t>
            </a:r>
            <a:endParaRPr lang="pt-PT" sz="1200" b="1" dirty="0" smtClean="0">
              <a:solidFill>
                <a:srgbClr val="FF33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  <a:p>
            <a:pPr>
              <a:spcBef>
                <a:spcPct val="50000"/>
              </a:spcBef>
              <a:defRPr/>
            </a:pPr>
            <a:r>
              <a:rPr lang="pt-PT" sz="1100" b="1" dirty="0" smtClean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Aplicação web de filtros faciais em tempo real</a:t>
            </a:r>
            <a:endParaRPr lang="pt-PT" sz="1100" b="1" dirty="0">
              <a:solidFill>
                <a:srgbClr val="FF33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19" name="Marcador de Posição de Conteúdo 2"/>
          <p:cNvSpPr txBox="1">
            <a:spLocks/>
          </p:cNvSpPr>
          <p:nvPr/>
        </p:nvSpPr>
        <p:spPr>
          <a:xfrm>
            <a:off x="457200" y="1219200"/>
            <a:ext cx="8229600" cy="49377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200000"/>
              </a:lnSpc>
              <a:spcBef>
                <a:spcPct val="20000"/>
              </a:spcBef>
            </a:pPr>
            <a:endParaRPr lang="pt-PT" sz="2000" dirty="0">
              <a:latin typeface="Arial" pitchFamily="34" charset="0"/>
              <a:cs typeface="Arial" pitchFamily="34" charset="0"/>
            </a:endParaRPr>
          </a:p>
          <a:p>
            <a:pPr lvl="0">
              <a:lnSpc>
                <a:spcPct val="200000"/>
              </a:lnSpc>
              <a:spcBef>
                <a:spcPct val="20000"/>
              </a:spcBef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457200" marR="0" lvl="1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457200" marR="0" lvl="1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54D42837-E70D-4C64-A8A7-E7F751502B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5" y="904241"/>
            <a:ext cx="9014192" cy="26648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81982921-1900-46B5-BE82-07BECCD639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20212"/>
            <a:ext cx="9144000" cy="253252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BE263CB9-5E3B-4385-9450-974CDF0F6C7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488336"/>
            <a:ext cx="545959" cy="199802"/>
          </a:xfrm>
          <a:prstGeom prst="rect">
            <a:avLst/>
          </a:prstGeom>
        </p:spPr>
      </p:pic>
      <p:sp>
        <p:nvSpPr>
          <p:cNvPr id="3" name="Rectângulo 19">
            <a:extLst>
              <a:ext uri="{FF2B5EF4-FFF2-40B4-BE49-F238E27FC236}">
                <a16:creationId xmlns:a16="http://schemas.microsoft.com/office/drawing/2014/main" id="{850208AF-C5A5-C009-177D-8C27BB5DCC8B}"/>
              </a:ext>
            </a:extLst>
          </p:cNvPr>
          <p:cNvSpPr/>
          <p:nvPr/>
        </p:nvSpPr>
        <p:spPr>
          <a:xfrm>
            <a:off x="5535613" y="553019"/>
            <a:ext cx="3505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PT" sz="1100" b="1" cap="all" dirty="0" err="1">
                <a:highlight>
                  <a:srgbClr val="FFFF00"/>
                </a:highlight>
              </a:rPr>
              <a:t>Degree</a:t>
            </a:r>
            <a:r>
              <a:rPr lang="pt-PT" sz="1100" b="1" cap="all" dirty="0">
                <a:highlight>
                  <a:srgbClr val="FFFF00"/>
                </a:highlight>
              </a:rPr>
              <a:t> IN </a:t>
            </a:r>
            <a:r>
              <a:rPr lang="pt-PT" sz="1100" b="1" cap="all" dirty="0" err="1">
                <a:highlight>
                  <a:srgbClr val="FFFF00"/>
                </a:highlight>
              </a:rPr>
              <a:t>Informatics</a:t>
            </a:r>
            <a:r>
              <a:rPr lang="pt-PT" sz="1100" b="1" cap="all" dirty="0">
                <a:highlight>
                  <a:srgbClr val="FFFF00"/>
                </a:highlight>
              </a:rPr>
              <a:t> </a:t>
            </a:r>
            <a:r>
              <a:rPr lang="pt-PT" sz="1100" b="1" cap="all" dirty="0" err="1">
                <a:highlight>
                  <a:srgbClr val="FFFF00"/>
                </a:highlight>
              </a:rPr>
              <a:t>engineering</a:t>
            </a:r>
            <a:endParaRPr lang="pt-PT" sz="1100" dirty="0">
              <a:highlight>
                <a:srgbClr val="FFFF00"/>
              </a:highlight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4B69841B-4743-42E9-837A-73B87FC5C8C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5316" y="9186"/>
            <a:ext cx="2575034" cy="639880"/>
          </a:xfrm>
          <a:prstGeom prst="rect">
            <a:avLst/>
          </a:prstGeom>
        </p:spPr>
      </p:pic>
      <p:sp>
        <p:nvSpPr>
          <p:cNvPr id="2" name="Subtítulo 2">
            <a:extLst>
              <a:ext uri="{FF2B5EF4-FFF2-40B4-BE49-F238E27FC236}">
                <a16:creationId xmlns:a16="http://schemas.microsoft.com/office/drawing/2014/main" id="{50369DE4-0D6E-7A10-AF37-333F300DD770}"/>
              </a:ext>
            </a:extLst>
          </p:cNvPr>
          <p:cNvSpPr txBox="1">
            <a:spLocks/>
          </p:cNvSpPr>
          <p:nvPr/>
        </p:nvSpPr>
        <p:spPr>
          <a:xfrm>
            <a:off x="836017" y="6524516"/>
            <a:ext cx="7698382" cy="162409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900" dirty="0">
                <a:latin typeface="Arial" charset="0"/>
                <a:ea typeface="Arial" charset="0"/>
                <a:cs typeface="Arial" charset="0"/>
              </a:rPr>
              <a:t>Francisco </a:t>
            </a:r>
            <a:r>
              <a:rPr lang="pt-PT" sz="900" dirty="0" smtClean="0">
                <a:latin typeface="Arial" charset="0"/>
                <a:ea typeface="Arial" charset="0"/>
                <a:cs typeface="Arial" charset="0"/>
              </a:rPr>
              <a:t>Matos, Paulo </a:t>
            </a:r>
            <a:r>
              <a:rPr lang="pt-PT" sz="900" dirty="0" err="1" smtClean="0">
                <a:latin typeface="Arial" charset="0"/>
                <a:ea typeface="Arial" charset="0"/>
                <a:cs typeface="Arial" charset="0"/>
              </a:rPr>
              <a:t>SImões</a:t>
            </a:r>
            <a:r>
              <a:rPr lang="pt-PT" sz="900" dirty="0" smtClean="0">
                <a:latin typeface="Arial" charset="0"/>
                <a:ea typeface="Arial" charset="0"/>
                <a:cs typeface="Arial" charset="0"/>
              </a:rPr>
              <a:t> </a:t>
            </a:r>
            <a:r>
              <a:rPr lang="pt-PT" sz="900" dirty="0">
                <a:latin typeface="Arial" charset="0"/>
                <a:ea typeface="Arial" charset="0"/>
                <a:cs typeface="Arial" charset="0"/>
              </a:rPr>
              <a:t>| </a:t>
            </a:r>
            <a:r>
              <a:rPr lang="pt-PT" sz="900" b="1" dirty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Unidade Curricular: </a:t>
            </a:r>
            <a:r>
              <a:rPr lang="pt-PT" sz="900" b="1" dirty="0" smtClean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AOOP </a:t>
            </a:r>
            <a:r>
              <a:rPr lang="pt-PT" sz="900" dirty="0">
                <a:latin typeface="Arial" charset="0"/>
                <a:ea typeface="Arial" charset="0"/>
                <a:cs typeface="Arial" charset="0"/>
              </a:rPr>
              <a:t>– Ano Letivo 2025/2026 – </a:t>
            </a:r>
            <a:r>
              <a:rPr lang="pt-PT" sz="900" b="1" dirty="0" smtClean="0">
                <a:latin typeface="Arial" charset="0"/>
                <a:ea typeface="Arial" charset="0"/>
                <a:cs typeface="Arial" charset="0"/>
              </a:rPr>
              <a:t>AR Face </a:t>
            </a:r>
            <a:r>
              <a:rPr lang="pt-PT" sz="900" b="1" dirty="0" err="1" smtClean="0">
                <a:latin typeface="Arial" charset="0"/>
                <a:ea typeface="Arial" charset="0"/>
                <a:cs typeface="Arial" charset="0"/>
              </a:rPr>
              <a:t>Filters</a:t>
            </a:r>
            <a:endParaRPr lang="pt-PT" sz="900" b="1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10" name="AutoShape 7" descr="JavaScript | Coding Help Wiki | Fandom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PT"/>
          </a:p>
        </p:txBody>
      </p:sp>
      <p:sp>
        <p:nvSpPr>
          <p:cNvPr id="4" name="CaixaDeTexto 3"/>
          <p:cNvSpPr txBox="1"/>
          <p:nvPr/>
        </p:nvSpPr>
        <p:spPr>
          <a:xfrm>
            <a:off x="238125" y="1170723"/>
            <a:ext cx="8601075" cy="49398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t-PT" b="1" dirty="0">
                <a:latin typeface="Arial" panose="020B0604020202020204" pitchFamily="34" charset="0"/>
                <a:cs typeface="Arial" panose="020B0604020202020204" pitchFamily="34" charset="0"/>
              </a:rPr>
              <a:t>Como funciona:</a:t>
            </a:r>
            <a:endParaRPr lang="pt-PT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pt-PT" dirty="0">
                <a:latin typeface="Arial" panose="020B0604020202020204" pitchFamily="34" charset="0"/>
                <a:cs typeface="Arial" panose="020B0604020202020204" pitchFamily="34" charset="0"/>
              </a:rPr>
              <a:t>A webcam capta o vídeo em tempo real.</a:t>
            </a:r>
          </a:p>
          <a:p>
            <a:pPr>
              <a:lnSpc>
                <a:spcPct val="150000"/>
              </a:lnSpc>
            </a:pPr>
            <a:r>
              <a:rPr lang="pt-PT" dirty="0">
                <a:latin typeface="Arial" panose="020B0604020202020204" pitchFamily="34" charset="0"/>
                <a:cs typeface="Arial" panose="020B0604020202020204" pitchFamily="34" charset="0"/>
              </a:rPr>
              <a:t>O </a:t>
            </a:r>
            <a:r>
              <a:rPr lang="pt-PT" dirty="0" err="1">
                <a:latin typeface="Arial" panose="020B0604020202020204" pitchFamily="34" charset="0"/>
                <a:cs typeface="Arial" panose="020B0604020202020204" pitchFamily="34" charset="0"/>
              </a:rPr>
              <a:t>MediaPipe</a:t>
            </a:r>
            <a:r>
              <a:rPr lang="pt-PT" dirty="0">
                <a:latin typeface="Arial" panose="020B0604020202020204" pitchFamily="34" charset="0"/>
                <a:cs typeface="Arial" panose="020B0604020202020204" pitchFamily="34" charset="0"/>
              </a:rPr>
              <a:t> analisa cada </a:t>
            </a:r>
            <a:r>
              <a:rPr lang="pt-PT" dirty="0" err="1">
                <a:latin typeface="Arial" panose="020B0604020202020204" pitchFamily="34" charset="0"/>
                <a:cs typeface="Arial" panose="020B0604020202020204" pitchFamily="34" charset="0"/>
              </a:rPr>
              <a:t>frame</a:t>
            </a:r>
            <a:r>
              <a:rPr lang="pt-PT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pt-PT" dirty="0">
                <a:latin typeface="Arial" panose="020B0604020202020204" pitchFamily="34" charset="0"/>
                <a:cs typeface="Arial" panose="020B0604020202020204" pitchFamily="34" charset="0"/>
              </a:rPr>
              <a:t>São detetados </a:t>
            </a:r>
            <a:r>
              <a:rPr lang="pt-PT" dirty="0" err="1">
                <a:latin typeface="Arial" panose="020B0604020202020204" pitchFamily="34" charset="0"/>
                <a:cs typeface="Arial" panose="020B0604020202020204" pitchFamily="34" charset="0"/>
              </a:rPr>
              <a:t>landmarks</a:t>
            </a:r>
            <a:r>
              <a:rPr lang="pt-PT" dirty="0">
                <a:latin typeface="Arial" panose="020B0604020202020204" pitchFamily="34" charset="0"/>
                <a:cs typeface="Arial" panose="020B0604020202020204" pitchFamily="34" charset="0"/>
              </a:rPr>
              <a:t> faciais.</a:t>
            </a:r>
          </a:p>
          <a:p>
            <a:pPr>
              <a:lnSpc>
                <a:spcPct val="150000"/>
              </a:lnSpc>
            </a:pPr>
            <a:r>
              <a:rPr lang="pt-PT" dirty="0">
                <a:latin typeface="Arial" panose="020B0604020202020204" pitchFamily="34" charset="0"/>
                <a:cs typeface="Arial" panose="020B0604020202020204" pitchFamily="34" charset="0"/>
              </a:rPr>
              <a:t>Os </a:t>
            </a:r>
            <a:r>
              <a:rPr lang="pt-PT" dirty="0" err="1">
                <a:latin typeface="Arial" panose="020B0604020202020204" pitchFamily="34" charset="0"/>
                <a:cs typeface="Arial" panose="020B0604020202020204" pitchFamily="34" charset="0"/>
              </a:rPr>
              <a:t>landmarks</a:t>
            </a:r>
            <a:r>
              <a:rPr lang="pt-PT" dirty="0">
                <a:latin typeface="Arial" panose="020B0604020202020204" pitchFamily="34" charset="0"/>
                <a:cs typeface="Arial" panose="020B0604020202020204" pitchFamily="34" charset="0"/>
              </a:rPr>
              <a:t> servem como referência para posicionar filtros</a:t>
            </a:r>
            <a:r>
              <a:rPr lang="pt-PT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>
              <a:lnSpc>
                <a:spcPct val="150000"/>
              </a:lnSpc>
            </a:pPr>
            <a:endParaRPr lang="pt-PT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pt-PT" b="1" dirty="0">
                <a:latin typeface="Arial" panose="020B0604020202020204" pitchFamily="34" charset="0"/>
                <a:cs typeface="Arial" panose="020B0604020202020204" pitchFamily="34" charset="0"/>
              </a:rPr>
              <a:t>Zonas utilizadas:</a:t>
            </a:r>
            <a:endParaRPr lang="pt-PT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pt-PT" dirty="0">
                <a:latin typeface="Arial" panose="020B0604020202020204" pitchFamily="34" charset="0"/>
                <a:cs typeface="Arial" panose="020B0604020202020204" pitchFamily="34" charset="0"/>
              </a:rPr>
              <a:t>Cabeça</a:t>
            </a:r>
          </a:p>
          <a:p>
            <a:pPr>
              <a:lnSpc>
                <a:spcPct val="150000"/>
              </a:lnSpc>
            </a:pPr>
            <a:r>
              <a:rPr lang="pt-PT" dirty="0">
                <a:latin typeface="Arial" panose="020B0604020202020204" pitchFamily="34" charset="0"/>
                <a:cs typeface="Arial" panose="020B0604020202020204" pitchFamily="34" charset="0"/>
              </a:rPr>
              <a:t>Olhos</a:t>
            </a:r>
          </a:p>
          <a:p>
            <a:pPr>
              <a:lnSpc>
                <a:spcPct val="150000"/>
              </a:lnSpc>
            </a:pPr>
            <a:r>
              <a:rPr lang="pt-PT" dirty="0">
                <a:latin typeface="Arial" panose="020B0604020202020204" pitchFamily="34" charset="0"/>
                <a:cs typeface="Arial" panose="020B0604020202020204" pitchFamily="34" charset="0"/>
              </a:rPr>
              <a:t>Boca</a:t>
            </a:r>
          </a:p>
          <a:p>
            <a:pPr>
              <a:lnSpc>
                <a:spcPct val="150000"/>
              </a:lnSpc>
            </a:pPr>
            <a:r>
              <a:rPr lang="pt-PT" dirty="0">
                <a:latin typeface="Arial" panose="020B0604020202020204" pitchFamily="34" charset="0"/>
                <a:cs typeface="Arial" panose="020B0604020202020204" pitchFamily="34" charset="0"/>
              </a:rPr>
              <a:t>Face completa</a:t>
            </a:r>
          </a:p>
          <a:p>
            <a:endParaRPr lang="pt-PT" dirty="0"/>
          </a:p>
        </p:txBody>
      </p:sp>
      <p:pic>
        <p:nvPicPr>
          <p:cNvPr id="11" name="Imagem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43400" y="3463007"/>
            <a:ext cx="3674034" cy="2750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22743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Text Box 10"/>
          <p:cNvSpPr txBox="1">
            <a:spLocks noChangeArrowheads="1"/>
          </p:cNvSpPr>
          <p:nvPr/>
        </p:nvSpPr>
        <p:spPr bwMode="auto">
          <a:xfrm>
            <a:off x="8288338" y="6296025"/>
            <a:ext cx="8270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pt-PT"/>
          </a:p>
        </p:txBody>
      </p:sp>
      <p:sp>
        <p:nvSpPr>
          <p:cNvPr id="10244" name="Rectangle 11"/>
          <p:cNvSpPr>
            <a:spLocks noChangeArrowheads="1"/>
          </p:cNvSpPr>
          <p:nvPr/>
        </p:nvSpPr>
        <p:spPr bwMode="auto">
          <a:xfrm>
            <a:off x="8327571" y="6496091"/>
            <a:ext cx="9366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pt-PT" sz="1000" dirty="0"/>
              <a:t>- </a:t>
            </a:r>
            <a:fld id="{1234D2FF-8FB9-47A1-B8C9-42A5F500BA2F}" type="slidenum">
              <a:rPr lang="pt-PT" sz="1000"/>
              <a:pPr algn="ctr"/>
              <a:t>7</a:t>
            </a:fld>
            <a:r>
              <a:rPr lang="pt-PT" sz="1000" dirty="0"/>
              <a:t> -</a:t>
            </a:r>
          </a:p>
        </p:txBody>
      </p:sp>
      <p:sp>
        <p:nvSpPr>
          <p:cNvPr id="9229" name="Text Box 13"/>
          <p:cNvSpPr txBox="1">
            <a:spLocks noChangeArrowheads="1"/>
          </p:cNvSpPr>
          <p:nvPr/>
        </p:nvSpPr>
        <p:spPr bwMode="auto">
          <a:xfrm>
            <a:off x="306388" y="557213"/>
            <a:ext cx="698182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■</a:t>
            </a:r>
            <a:r>
              <a:rPr lang="pt-PT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</a:t>
            </a:r>
            <a:r>
              <a:rPr lang="pt-PT" sz="2000" b="1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Filtros 2D</a:t>
            </a:r>
            <a:endParaRPr lang="pt-PT" sz="2000" b="1" dirty="0"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10247" name="Line 15"/>
          <p:cNvSpPr>
            <a:spLocks noChangeShapeType="1"/>
          </p:cNvSpPr>
          <p:nvPr/>
        </p:nvSpPr>
        <p:spPr bwMode="auto">
          <a:xfrm>
            <a:off x="250825" y="0"/>
            <a:ext cx="0" cy="765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PT"/>
          </a:p>
        </p:txBody>
      </p:sp>
      <p:sp>
        <p:nvSpPr>
          <p:cNvPr id="9237" name="Text Box 21"/>
          <p:cNvSpPr txBox="1">
            <a:spLocks noChangeArrowheads="1"/>
          </p:cNvSpPr>
          <p:nvPr/>
        </p:nvSpPr>
        <p:spPr bwMode="auto">
          <a:xfrm>
            <a:off x="381001" y="44450"/>
            <a:ext cx="6138752" cy="5309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1200" b="1" dirty="0" smtClean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AOOP </a:t>
            </a: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– </a:t>
            </a:r>
            <a:r>
              <a:rPr lang="pt-PT" sz="1200" b="1" dirty="0" smtClean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AR Face </a:t>
            </a:r>
            <a:r>
              <a:rPr lang="pt-PT" sz="1200" b="1" dirty="0" err="1" smtClean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Filters</a:t>
            </a:r>
            <a:endParaRPr lang="pt-PT" sz="1200" b="1" dirty="0" smtClean="0">
              <a:solidFill>
                <a:srgbClr val="FF33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  <a:p>
            <a:pPr>
              <a:spcBef>
                <a:spcPct val="50000"/>
              </a:spcBef>
              <a:defRPr/>
            </a:pPr>
            <a:r>
              <a:rPr lang="pt-PT" sz="1100" b="1" dirty="0" smtClean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Aplicação web de filtros faciais em tempo real</a:t>
            </a:r>
            <a:endParaRPr lang="pt-PT" sz="1100" b="1" dirty="0">
              <a:solidFill>
                <a:srgbClr val="FF33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19" name="Marcador de Posição de Conteúdo 2"/>
          <p:cNvSpPr txBox="1">
            <a:spLocks/>
          </p:cNvSpPr>
          <p:nvPr/>
        </p:nvSpPr>
        <p:spPr>
          <a:xfrm>
            <a:off x="457200" y="1219200"/>
            <a:ext cx="8229600" cy="49377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200000"/>
              </a:lnSpc>
              <a:spcBef>
                <a:spcPct val="20000"/>
              </a:spcBef>
            </a:pPr>
            <a:endParaRPr lang="pt-PT" sz="2000" dirty="0">
              <a:latin typeface="Arial" pitchFamily="34" charset="0"/>
              <a:cs typeface="Arial" pitchFamily="34" charset="0"/>
            </a:endParaRPr>
          </a:p>
          <a:p>
            <a:pPr lvl="0">
              <a:lnSpc>
                <a:spcPct val="200000"/>
              </a:lnSpc>
              <a:spcBef>
                <a:spcPct val="20000"/>
              </a:spcBef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457200" marR="0" lvl="1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457200" marR="0" lvl="1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54D42837-E70D-4C64-A8A7-E7F751502B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5" y="904241"/>
            <a:ext cx="9014192" cy="26648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81982921-1900-46B5-BE82-07BECCD639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20212"/>
            <a:ext cx="9144000" cy="253252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BE263CB9-5E3B-4385-9450-974CDF0F6C7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488336"/>
            <a:ext cx="545959" cy="199802"/>
          </a:xfrm>
          <a:prstGeom prst="rect">
            <a:avLst/>
          </a:prstGeom>
        </p:spPr>
      </p:pic>
      <p:sp>
        <p:nvSpPr>
          <p:cNvPr id="3" name="Rectângulo 19">
            <a:extLst>
              <a:ext uri="{FF2B5EF4-FFF2-40B4-BE49-F238E27FC236}">
                <a16:creationId xmlns:a16="http://schemas.microsoft.com/office/drawing/2014/main" id="{850208AF-C5A5-C009-177D-8C27BB5DCC8B}"/>
              </a:ext>
            </a:extLst>
          </p:cNvPr>
          <p:cNvSpPr/>
          <p:nvPr/>
        </p:nvSpPr>
        <p:spPr>
          <a:xfrm>
            <a:off x="5535613" y="553019"/>
            <a:ext cx="3505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PT" sz="1100" b="1" cap="all" dirty="0" err="1">
                <a:highlight>
                  <a:srgbClr val="FFFF00"/>
                </a:highlight>
              </a:rPr>
              <a:t>Degree</a:t>
            </a:r>
            <a:r>
              <a:rPr lang="pt-PT" sz="1100" b="1" cap="all" dirty="0">
                <a:highlight>
                  <a:srgbClr val="FFFF00"/>
                </a:highlight>
              </a:rPr>
              <a:t> IN </a:t>
            </a:r>
            <a:r>
              <a:rPr lang="pt-PT" sz="1100" b="1" cap="all" dirty="0" err="1">
                <a:highlight>
                  <a:srgbClr val="FFFF00"/>
                </a:highlight>
              </a:rPr>
              <a:t>Informatics</a:t>
            </a:r>
            <a:r>
              <a:rPr lang="pt-PT" sz="1100" b="1" cap="all" dirty="0">
                <a:highlight>
                  <a:srgbClr val="FFFF00"/>
                </a:highlight>
              </a:rPr>
              <a:t> </a:t>
            </a:r>
            <a:r>
              <a:rPr lang="pt-PT" sz="1100" b="1" cap="all" dirty="0" err="1">
                <a:highlight>
                  <a:srgbClr val="FFFF00"/>
                </a:highlight>
              </a:rPr>
              <a:t>engineering</a:t>
            </a:r>
            <a:endParaRPr lang="pt-PT" sz="1100" dirty="0">
              <a:highlight>
                <a:srgbClr val="FFFF00"/>
              </a:highlight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4B69841B-4743-42E9-837A-73B87FC5C8C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5316" y="9186"/>
            <a:ext cx="2575034" cy="639880"/>
          </a:xfrm>
          <a:prstGeom prst="rect">
            <a:avLst/>
          </a:prstGeom>
        </p:spPr>
      </p:pic>
      <p:sp>
        <p:nvSpPr>
          <p:cNvPr id="2" name="Subtítulo 2">
            <a:extLst>
              <a:ext uri="{FF2B5EF4-FFF2-40B4-BE49-F238E27FC236}">
                <a16:creationId xmlns:a16="http://schemas.microsoft.com/office/drawing/2014/main" id="{50369DE4-0D6E-7A10-AF37-333F300DD770}"/>
              </a:ext>
            </a:extLst>
          </p:cNvPr>
          <p:cNvSpPr txBox="1">
            <a:spLocks/>
          </p:cNvSpPr>
          <p:nvPr/>
        </p:nvSpPr>
        <p:spPr>
          <a:xfrm>
            <a:off x="836017" y="6524516"/>
            <a:ext cx="7698382" cy="162409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900" dirty="0">
                <a:latin typeface="Arial" charset="0"/>
                <a:ea typeface="Arial" charset="0"/>
                <a:cs typeface="Arial" charset="0"/>
              </a:rPr>
              <a:t>Francisco </a:t>
            </a:r>
            <a:r>
              <a:rPr lang="pt-PT" sz="900" dirty="0" smtClean="0">
                <a:latin typeface="Arial" charset="0"/>
                <a:ea typeface="Arial" charset="0"/>
                <a:cs typeface="Arial" charset="0"/>
              </a:rPr>
              <a:t>Matos, Paulo </a:t>
            </a:r>
            <a:r>
              <a:rPr lang="pt-PT" sz="900" dirty="0" err="1" smtClean="0">
                <a:latin typeface="Arial" charset="0"/>
                <a:ea typeface="Arial" charset="0"/>
                <a:cs typeface="Arial" charset="0"/>
              </a:rPr>
              <a:t>SImões</a:t>
            </a:r>
            <a:r>
              <a:rPr lang="pt-PT" sz="900" dirty="0" smtClean="0">
                <a:latin typeface="Arial" charset="0"/>
                <a:ea typeface="Arial" charset="0"/>
                <a:cs typeface="Arial" charset="0"/>
              </a:rPr>
              <a:t> </a:t>
            </a:r>
            <a:r>
              <a:rPr lang="pt-PT" sz="900" dirty="0">
                <a:latin typeface="Arial" charset="0"/>
                <a:ea typeface="Arial" charset="0"/>
                <a:cs typeface="Arial" charset="0"/>
              </a:rPr>
              <a:t>| </a:t>
            </a:r>
            <a:r>
              <a:rPr lang="pt-PT" sz="900" b="1" dirty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Unidade Curricular: </a:t>
            </a:r>
            <a:r>
              <a:rPr lang="pt-PT" sz="900" b="1" dirty="0" smtClean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AOOP </a:t>
            </a:r>
            <a:r>
              <a:rPr lang="pt-PT" sz="900" dirty="0">
                <a:latin typeface="Arial" charset="0"/>
                <a:ea typeface="Arial" charset="0"/>
                <a:cs typeface="Arial" charset="0"/>
              </a:rPr>
              <a:t>– Ano Letivo 2025/2026 – </a:t>
            </a:r>
            <a:r>
              <a:rPr lang="pt-PT" sz="900" b="1" dirty="0" smtClean="0">
                <a:latin typeface="Arial" charset="0"/>
                <a:ea typeface="Arial" charset="0"/>
                <a:cs typeface="Arial" charset="0"/>
              </a:rPr>
              <a:t>AR Face </a:t>
            </a:r>
            <a:r>
              <a:rPr lang="pt-PT" sz="900" b="1" dirty="0" err="1" smtClean="0">
                <a:latin typeface="Arial" charset="0"/>
                <a:ea typeface="Arial" charset="0"/>
                <a:cs typeface="Arial" charset="0"/>
              </a:rPr>
              <a:t>Filters</a:t>
            </a:r>
            <a:endParaRPr lang="pt-PT" sz="900" b="1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10" name="AutoShape 7" descr="JavaScript | Coding Help Wiki | Fandom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PT"/>
          </a:p>
        </p:txBody>
      </p:sp>
      <p:sp>
        <p:nvSpPr>
          <p:cNvPr id="6" name="CaixaDeTexto 5"/>
          <p:cNvSpPr txBox="1"/>
          <p:nvPr/>
        </p:nvSpPr>
        <p:spPr>
          <a:xfrm>
            <a:off x="238125" y="1170723"/>
            <a:ext cx="8601075" cy="52168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t-PT" sz="1400" b="1" dirty="0">
                <a:latin typeface="Arial" panose="020B0604020202020204" pitchFamily="34" charset="0"/>
                <a:cs typeface="Arial" panose="020B0604020202020204" pitchFamily="34" charset="0"/>
              </a:rPr>
              <a:t>Filtros 2D implementados:</a:t>
            </a:r>
            <a:endParaRPr lang="pt-PT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pt-PT" sz="1400" dirty="0">
                <a:latin typeface="Arial" panose="020B0604020202020204" pitchFamily="34" charset="0"/>
                <a:cs typeface="Arial" panose="020B0604020202020204" pitchFamily="34" charset="0"/>
              </a:rPr>
              <a:t>Chapéu</a:t>
            </a:r>
          </a:p>
          <a:p>
            <a:pPr>
              <a:lnSpc>
                <a:spcPct val="150000"/>
              </a:lnSpc>
            </a:pPr>
            <a:r>
              <a:rPr lang="pt-PT" sz="1400" dirty="0">
                <a:latin typeface="Arial" panose="020B0604020202020204" pitchFamily="34" charset="0"/>
                <a:cs typeface="Arial" panose="020B0604020202020204" pitchFamily="34" charset="0"/>
              </a:rPr>
              <a:t>Coroa</a:t>
            </a:r>
          </a:p>
          <a:p>
            <a:pPr>
              <a:lnSpc>
                <a:spcPct val="150000"/>
              </a:lnSpc>
            </a:pPr>
            <a:r>
              <a:rPr lang="pt-PT" sz="1400" dirty="0">
                <a:latin typeface="Arial" panose="020B0604020202020204" pitchFamily="34" charset="0"/>
                <a:cs typeface="Arial" panose="020B0604020202020204" pitchFamily="34" charset="0"/>
              </a:rPr>
              <a:t>Gorro de Natal</a:t>
            </a:r>
          </a:p>
          <a:p>
            <a:pPr>
              <a:lnSpc>
                <a:spcPct val="150000"/>
              </a:lnSpc>
            </a:pPr>
            <a:r>
              <a:rPr lang="pt-PT" sz="1400" dirty="0">
                <a:latin typeface="Arial" panose="020B0604020202020204" pitchFamily="34" charset="0"/>
                <a:cs typeface="Arial" panose="020B0604020202020204" pitchFamily="34" charset="0"/>
              </a:rPr>
              <a:t>Chapéu de bruxa</a:t>
            </a:r>
          </a:p>
          <a:p>
            <a:pPr>
              <a:lnSpc>
                <a:spcPct val="150000"/>
              </a:lnSpc>
            </a:pPr>
            <a:r>
              <a:rPr lang="pt-PT" sz="1400" dirty="0">
                <a:latin typeface="Arial" panose="020B0604020202020204" pitchFamily="34" charset="0"/>
                <a:cs typeface="Arial" panose="020B0604020202020204" pitchFamily="34" charset="0"/>
              </a:rPr>
              <a:t>Óculos</a:t>
            </a:r>
          </a:p>
          <a:p>
            <a:pPr>
              <a:lnSpc>
                <a:spcPct val="150000"/>
              </a:lnSpc>
            </a:pPr>
            <a:r>
              <a:rPr lang="pt-PT" sz="1400" dirty="0">
                <a:latin typeface="Arial" panose="020B0604020202020204" pitchFamily="34" charset="0"/>
                <a:cs typeface="Arial" panose="020B0604020202020204" pitchFamily="34" charset="0"/>
              </a:rPr>
              <a:t>Máscara</a:t>
            </a:r>
          </a:p>
          <a:p>
            <a:pPr>
              <a:lnSpc>
                <a:spcPct val="150000"/>
              </a:lnSpc>
            </a:pPr>
            <a:r>
              <a:rPr lang="pt-PT" sz="1400" dirty="0">
                <a:latin typeface="Arial" panose="020B0604020202020204" pitchFamily="34" charset="0"/>
                <a:cs typeface="Arial" panose="020B0604020202020204" pitchFamily="34" charset="0"/>
              </a:rPr>
              <a:t>Bigode</a:t>
            </a:r>
          </a:p>
          <a:p>
            <a:pPr>
              <a:lnSpc>
                <a:spcPct val="150000"/>
              </a:lnSpc>
            </a:pPr>
            <a:r>
              <a:rPr lang="pt-PT" sz="1400" dirty="0">
                <a:latin typeface="Arial" panose="020B0604020202020204" pitchFamily="34" charset="0"/>
                <a:cs typeface="Arial" panose="020B0604020202020204" pitchFamily="34" charset="0"/>
              </a:rPr>
              <a:t>Pixel </a:t>
            </a:r>
            <a:r>
              <a:rPr lang="pt-PT" sz="1400" dirty="0" err="1">
                <a:latin typeface="Arial" panose="020B0604020202020204" pitchFamily="34" charset="0"/>
                <a:cs typeface="Arial" panose="020B0604020202020204" pitchFamily="34" charset="0"/>
              </a:rPr>
              <a:t>Glasses</a:t>
            </a:r>
            <a:endParaRPr lang="pt-PT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pt-PT" sz="1400" dirty="0" err="1">
                <a:latin typeface="Arial" panose="020B0604020202020204" pitchFamily="34" charset="0"/>
                <a:cs typeface="Arial" panose="020B0604020202020204" pitchFamily="34" charset="0"/>
              </a:rPr>
              <a:t>Neon</a:t>
            </a:r>
            <a:r>
              <a:rPr lang="pt-PT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PT" sz="1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Mask</a:t>
            </a:r>
            <a:endParaRPr lang="pt-PT" sz="1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lang="pt-PT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pt-PT" sz="1400" b="1" dirty="0">
                <a:latin typeface="Arial" panose="020B0604020202020204" pitchFamily="34" charset="0"/>
                <a:cs typeface="Arial" panose="020B0604020202020204" pitchFamily="34" charset="0"/>
              </a:rPr>
              <a:t>Características:</a:t>
            </a:r>
            <a:endParaRPr lang="pt-PT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pt-PT" sz="1400" dirty="0">
                <a:latin typeface="Arial" panose="020B0604020202020204" pitchFamily="34" charset="0"/>
                <a:cs typeface="Arial" panose="020B0604020202020204" pitchFamily="34" charset="0"/>
              </a:rPr>
              <a:t>Desenhados sobre </a:t>
            </a:r>
            <a:r>
              <a:rPr lang="pt-PT" sz="1400" dirty="0" err="1">
                <a:latin typeface="Arial" panose="020B0604020202020204" pitchFamily="34" charset="0"/>
                <a:cs typeface="Arial" panose="020B0604020202020204" pitchFamily="34" charset="0"/>
              </a:rPr>
              <a:t>Canvas</a:t>
            </a:r>
            <a:r>
              <a:rPr lang="pt-PT" sz="1400" dirty="0">
                <a:latin typeface="Arial" panose="020B0604020202020204" pitchFamily="34" charset="0"/>
                <a:cs typeface="Arial" panose="020B0604020202020204" pitchFamily="34" charset="0"/>
              </a:rPr>
              <a:t> 2D.</a:t>
            </a:r>
          </a:p>
          <a:p>
            <a:pPr>
              <a:lnSpc>
                <a:spcPct val="150000"/>
              </a:lnSpc>
            </a:pPr>
            <a:r>
              <a:rPr lang="pt-PT" sz="1400" dirty="0">
                <a:latin typeface="Arial" panose="020B0604020202020204" pitchFamily="34" charset="0"/>
                <a:cs typeface="Arial" panose="020B0604020202020204" pitchFamily="34" charset="0"/>
              </a:rPr>
              <a:t>Acompanham a posição da face.</a:t>
            </a:r>
          </a:p>
          <a:p>
            <a:pPr>
              <a:lnSpc>
                <a:spcPct val="150000"/>
              </a:lnSpc>
            </a:pPr>
            <a:r>
              <a:rPr lang="pt-PT" sz="1400" dirty="0">
                <a:latin typeface="Arial" panose="020B0604020202020204" pitchFamily="34" charset="0"/>
                <a:cs typeface="Arial" panose="020B0604020202020204" pitchFamily="34" charset="0"/>
              </a:rPr>
              <a:t>Podem ser ajustados em tamanho, posição e rotação.</a:t>
            </a:r>
          </a:p>
          <a:p>
            <a:endParaRPr lang="pt-PT" dirty="0"/>
          </a:p>
        </p:txBody>
      </p:sp>
      <p:pic>
        <p:nvPicPr>
          <p:cNvPr id="8" name="Imagem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14800" y="1682505"/>
            <a:ext cx="3901437" cy="2859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92820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Text Box 10"/>
          <p:cNvSpPr txBox="1">
            <a:spLocks noChangeArrowheads="1"/>
          </p:cNvSpPr>
          <p:nvPr/>
        </p:nvSpPr>
        <p:spPr bwMode="auto">
          <a:xfrm>
            <a:off x="8288338" y="6296025"/>
            <a:ext cx="8270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pt-PT"/>
          </a:p>
        </p:txBody>
      </p:sp>
      <p:sp>
        <p:nvSpPr>
          <p:cNvPr id="10244" name="Rectangle 11"/>
          <p:cNvSpPr>
            <a:spLocks noChangeArrowheads="1"/>
          </p:cNvSpPr>
          <p:nvPr/>
        </p:nvSpPr>
        <p:spPr bwMode="auto">
          <a:xfrm>
            <a:off x="8327571" y="6496091"/>
            <a:ext cx="9366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pt-PT" sz="1000" dirty="0"/>
              <a:t>- </a:t>
            </a:r>
            <a:fld id="{1234D2FF-8FB9-47A1-B8C9-42A5F500BA2F}" type="slidenum">
              <a:rPr lang="pt-PT" sz="1000"/>
              <a:pPr algn="ctr"/>
              <a:t>8</a:t>
            </a:fld>
            <a:r>
              <a:rPr lang="pt-PT" sz="1000" dirty="0"/>
              <a:t> -</a:t>
            </a:r>
          </a:p>
        </p:txBody>
      </p:sp>
      <p:sp>
        <p:nvSpPr>
          <p:cNvPr id="9229" name="Text Box 13"/>
          <p:cNvSpPr txBox="1">
            <a:spLocks noChangeArrowheads="1"/>
          </p:cNvSpPr>
          <p:nvPr/>
        </p:nvSpPr>
        <p:spPr bwMode="auto">
          <a:xfrm>
            <a:off x="306388" y="557213"/>
            <a:ext cx="698182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■</a:t>
            </a:r>
            <a:r>
              <a:rPr lang="pt-PT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</a:t>
            </a:r>
            <a:r>
              <a:rPr lang="pt-PT" sz="2000" b="1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Filtros 3D</a:t>
            </a:r>
            <a:endParaRPr lang="pt-PT" sz="2000" b="1" dirty="0"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10247" name="Line 15"/>
          <p:cNvSpPr>
            <a:spLocks noChangeShapeType="1"/>
          </p:cNvSpPr>
          <p:nvPr/>
        </p:nvSpPr>
        <p:spPr bwMode="auto">
          <a:xfrm>
            <a:off x="250825" y="0"/>
            <a:ext cx="0" cy="765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PT"/>
          </a:p>
        </p:txBody>
      </p:sp>
      <p:sp>
        <p:nvSpPr>
          <p:cNvPr id="9237" name="Text Box 21"/>
          <p:cNvSpPr txBox="1">
            <a:spLocks noChangeArrowheads="1"/>
          </p:cNvSpPr>
          <p:nvPr/>
        </p:nvSpPr>
        <p:spPr bwMode="auto">
          <a:xfrm>
            <a:off x="381001" y="44450"/>
            <a:ext cx="6138752" cy="5309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1200" b="1" dirty="0" smtClean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AOOP </a:t>
            </a: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– </a:t>
            </a:r>
            <a:r>
              <a:rPr lang="pt-PT" sz="1200" b="1" dirty="0" smtClean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AR Face </a:t>
            </a:r>
            <a:r>
              <a:rPr lang="pt-PT" sz="1200" b="1" dirty="0" err="1" smtClean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Filters</a:t>
            </a:r>
            <a:endParaRPr lang="pt-PT" sz="1200" b="1" dirty="0" smtClean="0">
              <a:solidFill>
                <a:srgbClr val="FF33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  <a:p>
            <a:pPr>
              <a:spcBef>
                <a:spcPct val="50000"/>
              </a:spcBef>
              <a:defRPr/>
            </a:pPr>
            <a:r>
              <a:rPr lang="pt-PT" sz="1100" b="1" dirty="0" smtClean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Aplicação web de filtros faciais em tempo real</a:t>
            </a:r>
            <a:endParaRPr lang="pt-PT" sz="1100" b="1" dirty="0">
              <a:solidFill>
                <a:srgbClr val="FF33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19" name="Marcador de Posição de Conteúdo 2"/>
          <p:cNvSpPr txBox="1">
            <a:spLocks/>
          </p:cNvSpPr>
          <p:nvPr/>
        </p:nvSpPr>
        <p:spPr>
          <a:xfrm>
            <a:off x="457200" y="1219200"/>
            <a:ext cx="8229600" cy="49377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200000"/>
              </a:lnSpc>
              <a:spcBef>
                <a:spcPct val="20000"/>
              </a:spcBef>
            </a:pPr>
            <a:endParaRPr lang="pt-PT" sz="2000" dirty="0">
              <a:latin typeface="Arial" pitchFamily="34" charset="0"/>
              <a:cs typeface="Arial" pitchFamily="34" charset="0"/>
            </a:endParaRPr>
          </a:p>
          <a:p>
            <a:pPr lvl="0">
              <a:lnSpc>
                <a:spcPct val="200000"/>
              </a:lnSpc>
              <a:spcBef>
                <a:spcPct val="20000"/>
              </a:spcBef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457200" marR="0" lvl="1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457200" marR="0" lvl="1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54D42837-E70D-4C64-A8A7-E7F751502B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5" y="904241"/>
            <a:ext cx="9014192" cy="26648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81982921-1900-46B5-BE82-07BECCD639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20212"/>
            <a:ext cx="9144000" cy="253252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BE263CB9-5E3B-4385-9450-974CDF0F6C7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488336"/>
            <a:ext cx="545959" cy="199802"/>
          </a:xfrm>
          <a:prstGeom prst="rect">
            <a:avLst/>
          </a:prstGeom>
        </p:spPr>
      </p:pic>
      <p:sp>
        <p:nvSpPr>
          <p:cNvPr id="3" name="Rectângulo 19">
            <a:extLst>
              <a:ext uri="{FF2B5EF4-FFF2-40B4-BE49-F238E27FC236}">
                <a16:creationId xmlns:a16="http://schemas.microsoft.com/office/drawing/2014/main" id="{850208AF-C5A5-C009-177D-8C27BB5DCC8B}"/>
              </a:ext>
            </a:extLst>
          </p:cNvPr>
          <p:cNvSpPr/>
          <p:nvPr/>
        </p:nvSpPr>
        <p:spPr>
          <a:xfrm>
            <a:off x="5535613" y="553019"/>
            <a:ext cx="3505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PT" sz="1100" b="1" cap="all" dirty="0" err="1">
                <a:highlight>
                  <a:srgbClr val="FFFF00"/>
                </a:highlight>
              </a:rPr>
              <a:t>Degree</a:t>
            </a:r>
            <a:r>
              <a:rPr lang="pt-PT" sz="1100" b="1" cap="all" dirty="0">
                <a:highlight>
                  <a:srgbClr val="FFFF00"/>
                </a:highlight>
              </a:rPr>
              <a:t> IN </a:t>
            </a:r>
            <a:r>
              <a:rPr lang="pt-PT" sz="1100" b="1" cap="all" dirty="0" err="1">
                <a:highlight>
                  <a:srgbClr val="FFFF00"/>
                </a:highlight>
              </a:rPr>
              <a:t>Informatics</a:t>
            </a:r>
            <a:r>
              <a:rPr lang="pt-PT" sz="1100" b="1" cap="all" dirty="0">
                <a:highlight>
                  <a:srgbClr val="FFFF00"/>
                </a:highlight>
              </a:rPr>
              <a:t> </a:t>
            </a:r>
            <a:r>
              <a:rPr lang="pt-PT" sz="1100" b="1" cap="all" dirty="0" err="1">
                <a:highlight>
                  <a:srgbClr val="FFFF00"/>
                </a:highlight>
              </a:rPr>
              <a:t>engineering</a:t>
            </a:r>
            <a:endParaRPr lang="pt-PT" sz="1100" dirty="0">
              <a:highlight>
                <a:srgbClr val="FFFF00"/>
              </a:highlight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4B69841B-4743-42E9-837A-73B87FC5C8C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5316" y="9186"/>
            <a:ext cx="2575034" cy="639880"/>
          </a:xfrm>
          <a:prstGeom prst="rect">
            <a:avLst/>
          </a:prstGeom>
        </p:spPr>
      </p:pic>
      <p:sp>
        <p:nvSpPr>
          <p:cNvPr id="2" name="Subtítulo 2">
            <a:extLst>
              <a:ext uri="{FF2B5EF4-FFF2-40B4-BE49-F238E27FC236}">
                <a16:creationId xmlns:a16="http://schemas.microsoft.com/office/drawing/2014/main" id="{50369DE4-0D6E-7A10-AF37-333F300DD770}"/>
              </a:ext>
            </a:extLst>
          </p:cNvPr>
          <p:cNvSpPr txBox="1">
            <a:spLocks/>
          </p:cNvSpPr>
          <p:nvPr/>
        </p:nvSpPr>
        <p:spPr>
          <a:xfrm>
            <a:off x="836017" y="6524516"/>
            <a:ext cx="7698382" cy="162409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900" dirty="0">
                <a:latin typeface="Arial" charset="0"/>
                <a:ea typeface="Arial" charset="0"/>
                <a:cs typeface="Arial" charset="0"/>
              </a:rPr>
              <a:t>Francisco </a:t>
            </a:r>
            <a:r>
              <a:rPr lang="pt-PT" sz="900" dirty="0" smtClean="0">
                <a:latin typeface="Arial" charset="0"/>
                <a:ea typeface="Arial" charset="0"/>
                <a:cs typeface="Arial" charset="0"/>
              </a:rPr>
              <a:t>Matos, Paulo </a:t>
            </a:r>
            <a:r>
              <a:rPr lang="pt-PT" sz="900" dirty="0" err="1" smtClean="0">
                <a:latin typeface="Arial" charset="0"/>
                <a:ea typeface="Arial" charset="0"/>
                <a:cs typeface="Arial" charset="0"/>
              </a:rPr>
              <a:t>SImões</a:t>
            </a:r>
            <a:r>
              <a:rPr lang="pt-PT" sz="900" dirty="0" smtClean="0">
                <a:latin typeface="Arial" charset="0"/>
                <a:ea typeface="Arial" charset="0"/>
                <a:cs typeface="Arial" charset="0"/>
              </a:rPr>
              <a:t> </a:t>
            </a:r>
            <a:r>
              <a:rPr lang="pt-PT" sz="900" dirty="0">
                <a:latin typeface="Arial" charset="0"/>
                <a:ea typeface="Arial" charset="0"/>
                <a:cs typeface="Arial" charset="0"/>
              </a:rPr>
              <a:t>| </a:t>
            </a:r>
            <a:r>
              <a:rPr lang="pt-PT" sz="900" b="1" dirty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Unidade Curricular: </a:t>
            </a:r>
            <a:r>
              <a:rPr lang="pt-PT" sz="900" b="1" dirty="0" smtClean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AOOP </a:t>
            </a:r>
            <a:r>
              <a:rPr lang="pt-PT" sz="900" dirty="0">
                <a:latin typeface="Arial" charset="0"/>
                <a:ea typeface="Arial" charset="0"/>
                <a:cs typeface="Arial" charset="0"/>
              </a:rPr>
              <a:t>– Ano Letivo 2025/2026 – </a:t>
            </a:r>
            <a:r>
              <a:rPr lang="pt-PT" sz="900" b="1" dirty="0" smtClean="0">
                <a:latin typeface="Arial" charset="0"/>
                <a:ea typeface="Arial" charset="0"/>
                <a:cs typeface="Arial" charset="0"/>
              </a:rPr>
              <a:t>AR Face </a:t>
            </a:r>
            <a:r>
              <a:rPr lang="pt-PT" sz="900" b="1" dirty="0" err="1" smtClean="0">
                <a:latin typeface="Arial" charset="0"/>
                <a:ea typeface="Arial" charset="0"/>
                <a:cs typeface="Arial" charset="0"/>
              </a:rPr>
              <a:t>Filters</a:t>
            </a:r>
            <a:endParaRPr lang="pt-PT" sz="900" b="1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10" name="AutoShape 7" descr="JavaScript | Coding Help Wiki | Fandom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PT"/>
          </a:p>
        </p:txBody>
      </p:sp>
      <p:sp>
        <p:nvSpPr>
          <p:cNvPr id="4" name="Retângulo 3"/>
          <p:cNvSpPr/>
          <p:nvPr/>
        </p:nvSpPr>
        <p:spPr>
          <a:xfrm>
            <a:off x="306388" y="1187829"/>
            <a:ext cx="4572000" cy="4576702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PT" sz="1400" b="1" dirty="0">
                <a:latin typeface="Arial" panose="020B0604020202020204" pitchFamily="34" charset="0"/>
                <a:cs typeface="Arial" panose="020B0604020202020204" pitchFamily="34" charset="0"/>
              </a:rPr>
              <a:t>Filtros 3D implementados:</a:t>
            </a:r>
            <a:endParaRPr lang="pt-PT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 Óculos </a:t>
            </a:r>
            <a:r>
              <a:rPr lang="pt-PT" sz="1400" dirty="0">
                <a:latin typeface="Arial" panose="020B0604020202020204" pitchFamily="34" charset="0"/>
                <a:cs typeface="Arial" panose="020B0604020202020204" pitchFamily="34" charset="0"/>
              </a:rPr>
              <a:t>3D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 Chapéu 3D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pt-PT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pt-PT" sz="1400" b="1" dirty="0">
                <a:latin typeface="Arial" panose="020B0604020202020204" pitchFamily="34" charset="0"/>
                <a:cs typeface="Arial" panose="020B0604020202020204" pitchFamily="34" charset="0"/>
              </a:rPr>
              <a:t>Tecnologia:</a:t>
            </a:r>
            <a:endParaRPr lang="pt-PT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 Three.js</a:t>
            </a:r>
            <a:endParaRPr lang="pt-PT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PT" sz="1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WebGL</a:t>
            </a:r>
            <a:endParaRPr lang="pt-PT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PT" sz="1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GLTFLoader</a:t>
            </a:r>
            <a:endParaRPr lang="pt-PT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 Modelos GLB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pt-PT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pt-PT" sz="1400" b="1" dirty="0">
                <a:latin typeface="Arial" panose="020B0604020202020204" pitchFamily="34" charset="0"/>
                <a:cs typeface="Arial" panose="020B0604020202020204" pitchFamily="34" charset="0"/>
              </a:rPr>
              <a:t>Melhorias aplicadas:</a:t>
            </a:r>
            <a:endParaRPr lang="pt-PT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 Ajuste </a:t>
            </a:r>
            <a:r>
              <a:rPr lang="pt-PT" sz="1400" dirty="0">
                <a:latin typeface="Arial" panose="020B0604020202020204" pitchFamily="34" charset="0"/>
                <a:cs typeface="Arial" panose="020B0604020202020204" pitchFamily="34" charset="0"/>
              </a:rPr>
              <a:t>de escala, posição e rotação.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 Rotação </a:t>
            </a:r>
            <a:r>
              <a:rPr lang="pt-PT" sz="1400" dirty="0">
                <a:latin typeface="Arial" panose="020B0604020202020204" pitchFamily="34" charset="0"/>
                <a:cs typeface="Arial" panose="020B0604020202020204" pitchFamily="34" charset="0"/>
              </a:rPr>
              <a:t>nos eixos X, Y e Z.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 Suavização </a:t>
            </a:r>
            <a:r>
              <a:rPr lang="pt-PT" sz="1400" dirty="0">
                <a:latin typeface="Arial" panose="020B0604020202020204" pitchFamily="34" charset="0"/>
                <a:cs typeface="Arial" panose="020B0604020202020204" pitchFamily="34" charset="0"/>
              </a:rPr>
              <a:t>de movimento.</a:t>
            </a:r>
          </a:p>
        </p:txBody>
      </p:sp>
      <p:pic>
        <p:nvPicPr>
          <p:cNvPr id="11" name="Imagem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15630" y="2468724"/>
            <a:ext cx="5430008" cy="1743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7923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Text Box 10"/>
          <p:cNvSpPr txBox="1">
            <a:spLocks noChangeArrowheads="1"/>
          </p:cNvSpPr>
          <p:nvPr/>
        </p:nvSpPr>
        <p:spPr bwMode="auto">
          <a:xfrm>
            <a:off x="8288338" y="6296025"/>
            <a:ext cx="8270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pt-PT"/>
          </a:p>
        </p:txBody>
      </p:sp>
      <p:sp>
        <p:nvSpPr>
          <p:cNvPr id="10244" name="Rectangle 11"/>
          <p:cNvSpPr>
            <a:spLocks noChangeArrowheads="1"/>
          </p:cNvSpPr>
          <p:nvPr/>
        </p:nvSpPr>
        <p:spPr bwMode="auto">
          <a:xfrm>
            <a:off x="8327571" y="6496091"/>
            <a:ext cx="9366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pt-PT" sz="1000" dirty="0"/>
              <a:t>- </a:t>
            </a:r>
            <a:fld id="{1234D2FF-8FB9-47A1-B8C9-42A5F500BA2F}" type="slidenum">
              <a:rPr lang="pt-PT" sz="1000"/>
              <a:pPr algn="ctr"/>
              <a:t>9</a:t>
            </a:fld>
            <a:r>
              <a:rPr lang="pt-PT" sz="1000" dirty="0"/>
              <a:t> -</a:t>
            </a:r>
          </a:p>
        </p:txBody>
      </p:sp>
      <p:sp>
        <p:nvSpPr>
          <p:cNvPr id="9229" name="Text Box 13"/>
          <p:cNvSpPr txBox="1">
            <a:spLocks noChangeArrowheads="1"/>
          </p:cNvSpPr>
          <p:nvPr/>
        </p:nvSpPr>
        <p:spPr bwMode="auto">
          <a:xfrm>
            <a:off x="306388" y="557213"/>
            <a:ext cx="698182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■</a:t>
            </a:r>
            <a:r>
              <a:rPr lang="pt-PT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</a:t>
            </a:r>
            <a:r>
              <a:rPr lang="pt-PT" sz="2000" b="1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Efeitos Visuais</a:t>
            </a:r>
            <a:endParaRPr lang="pt-PT" sz="2000" b="1" dirty="0"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10247" name="Line 15"/>
          <p:cNvSpPr>
            <a:spLocks noChangeShapeType="1"/>
          </p:cNvSpPr>
          <p:nvPr/>
        </p:nvSpPr>
        <p:spPr bwMode="auto">
          <a:xfrm>
            <a:off x="250825" y="0"/>
            <a:ext cx="0" cy="765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PT"/>
          </a:p>
        </p:txBody>
      </p:sp>
      <p:sp>
        <p:nvSpPr>
          <p:cNvPr id="9237" name="Text Box 21"/>
          <p:cNvSpPr txBox="1">
            <a:spLocks noChangeArrowheads="1"/>
          </p:cNvSpPr>
          <p:nvPr/>
        </p:nvSpPr>
        <p:spPr bwMode="auto">
          <a:xfrm>
            <a:off x="381001" y="44450"/>
            <a:ext cx="6138752" cy="5309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1200" b="1" dirty="0" smtClean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AOOP </a:t>
            </a: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– </a:t>
            </a:r>
            <a:r>
              <a:rPr lang="pt-PT" sz="1200" b="1" dirty="0" smtClean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AR Face </a:t>
            </a:r>
            <a:r>
              <a:rPr lang="pt-PT" sz="1200" b="1" dirty="0" err="1" smtClean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Filters</a:t>
            </a:r>
            <a:endParaRPr lang="pt-PT" sz="1200" b="1" dirty="0" smtClean="0">
              <a:solidFill>
                <a:srgbClr val="FF33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  <a:p>
            <a:pPr>
              <a:spcBef>
                <a:spcPct val="50000"/>
              </a:spcBef>
              <a:defRPr/>
            </a:pPr>
            <a:r>
              <a:rPr lang="pt-PT" sz="1100" b="1" dirty="0" smtClean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Aplicação web de filtros faciais em tempo real</a:t>
            </a:r>
            <a:endParaRPr lang="pt-PT" sz="1100" b="1" dirty="0">
              <a:solidFill>
                <a:srgbClr val="FF33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19" name="Marcador de Posição de Conteúdo 2"/>
          <p:cNvSpPr txBox="1">
            <a:spLocks/>
          </p:cNvSpPr>
          <p:nvPr/>
        </p:nvSpPr>
        <p:spPr>
          <a:xfrm>
            <a:off x="457200" y="1219200"/>
            <a:ext cx="8229600" cy="49377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200000"/>
              </a:lnSpc>
              <a:spcBef>
                <a:spcPct val="20000"/>
              </a:spcBef>
            </a:pPr>
            <a:endParaRPr lang="pt-PT" sz="2000" dirty="0">
              <a:latin typeface="Arial" pitchFamily="34" charset="0"/>
              <a:cs typeface="Arial" pitchFamily="34" charset="0"/>
            </a:endParaRPr>
          </a:p>
          <a:p>
            <a:pPr lvl="0">
              <a:lnSpc>
                <a:spcPct val="200000"/>
              </a:lnSpc>
              <a:spcBef>
                <a:spcPct val="20000"/>
              </a:spcBef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457200" marR="0" lvl="1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457200" marR="0" lvl="1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54D42837-E70D-4C64-A8A7-E7F751502B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5" y="904241"/>
            <a:ext cx="9014192" cy="26648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81982921-1900-46B5-BE82-07BECCD639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20212"/>
            <a:ext cx="9144000" cy="253252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BE263CB9-5E3B-4385-9450-974CDF0F6C7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488336"/>
            <a:ext cx="545959" cy="199802"/>
          </a:xfrm>
          <a:prstGeom prst="rect">
            <a:avLst/>
          </a:prstGeom>
        </p:spPr>
      </p:pic>
      <p:sp>
        <p:nvSpPr>
          <p:cNvPr id="3" name="Rectângulo 19">
            <a:extLst>
              <a:ext uri="{FF2B5EF4-FFF2-40B4-BE49-F238E27FC236}">
                <a16:creationId xmlns:a16="http://schemas.microsoft.com/office/drawing/2014/main" id="{850208AF-C5A5-C009-177D-8C27BB5DCC8B}"/>
              </a:ext>
            </a:extLst>
          </p:cNvPr>
          <p:cNvSpPr/>
          <p:nvPr/>
        </p:nvSpPr>
        <p:spPr>
          <a:xfrm>
            <a:off x="5535613" y="553019"/>
            <a:ext cx="3505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PT" sz="1100" b="1" cap="all" dirty="0" err="1">
                <a:highlight>
                  <a:srgbClr val="FFFF00"/>
                </a:highlight>
              </a:rPr>
              <a:t>Degree</a:t>
            </a:r>
            <a:r>
              <a:rPr lang="pt-PT" sz="1100" b="1" cap="all" dirty="0">
                <a:highlight>
                  <a:srgbClr val="FFFF00"/>
                </a:highlight>
              </a:rPr>
              <a:t> IN </a:t>
            </a:r>
            <a:r>
              <a:rPr lang="pt-PT" sz="1100" b="1" cap="all" dirty="0" err="1">
                <a:highlight>
                  <a:srgbClr val="FFFF00"/>
                </a:highlight>
              </a:rPr>
              <a:t>Informatics</a:t>
            </a:r>
            <a:r>
              <a:rPr lang="pt-PT" sz="1100" b="1" cap="all" dirty="0">
                <a:highlight>
                  <a:srgbClr val="FFFF00"/>
                </a:highlight>
              </a:rPr>
              <a:t> </a:t>
            </a:r>
            <a:r>
              <a:rPr lang="pt-PT" sz="1100" b="1" cap="all" dirty="0" err="1">
                <a:highlight>
                  <a:srgbClr val="FFFF00"/>
                </a:highlight>
              </a:rPr>
              <a:t>engineering</a:t>
            </a:r>
            <a:endParaRPr lang="pt-PT" sz="1100" dirty="0">
              <a:highlight>
                <a:srgbClr val="FFFF00"/>
              </a:highlight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4B69841B-4743-42E9-837A-73B87FC5C8C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5316" y="9186"/>
            <a:ext cx="2575034" cy="639880"/>
          </a:xfrm>
          <a:prstGeom prst="rect">
            <a:avLst/>
          </a:prstGeom>
        </p:spPr>
      </p:pic>
      <p:sp>
        <p:nvSpPr>
          <p:cNvPr id="2" name="Subtítulo 2">
            <a:extLst>
              <a:ext uri="{FF2B5EF4-FFF2-40B4-BE49-F238E27FC236}">
                <a16:creationId xmlns:a16="http://schemas.microsoft.com/office/drawing/2014/main" id="{50369DE4-0D6E-7A10-AF37-333F300DD770}"/>
              </a:ext>
            </a:extLst>
          </p:cNvPr>
          <p:cNvSpPr txBox="1">
            <a:spLocks/>
          </p:cNvSpPr>
          <p:nvPr/>
        </p:nvSpPr>
        <p:spPr>
          <a:xfrm>
            <a:off x="836017" y="6524516"/>
            <a:ext cx="7698382" cy="162409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900" dirty="0">
                <a:latin typeface="Arial" charset="0"/>
                <a:ea typeface="Arial" charset="0"/>
                <a:cs typeface="Arial" charset="0"/>
              </a:rPr>
              <a:t>Francisco </a:t>
            </a:r>
            <a:r>
              <a:rPr lang="pt-PT" sz="900" dirty="0" smtClean="0">
                <a:latin typeface="Arial" charset="0"/>
                <a:ea typeface="Arial" charset="0"/>
                <a:cs typeface="Arial" charset="0"/>
              </a:rPr>
              <a:t>Matos, Paulo </a:t>
            </a:r>
            <a:r>
              <a:rPr lang="pt-PT" sz="900" dirty="0" err="1" smtClean="0">
                <a:latin typeface="Arial" charset="0"/>
                <a:ea typeface="Arial" charset="0"/>
                <a:cs typeface="Arial" charset="0"/>
              </a:rPr>
              <a:t>SImões</a:t>
            </a:r>
            <a:r>
              <a:rPr lang="pt-PT" sz="900" dirty="0" smtClean="0">
                <a:latin typeface="Arial" charset="0"/>
                <a:ea typeface="Arial" charset="0"/>
                <a:cs typeface="Arial" charset="0"/>
              </a:rPr>
              <a:t> </a:t>
            </a:r>
            <a:r>
              <a:rPr lang="pt-PT" sz="900" dirty="0">
                <a:latin typeface="Arial" charset="0"/>
                <a:ea typeface="Arial" charset="0"/>
                <a:cs typeface="Arial" charset="0"/>
              </a:rPr>
              <a:t>| </a:t>
            </a:r>
            <a:r>
              <a:rPr lang="pt-PT" sz="900" b="1" dirty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Unidade Curricular: </a:t>
            </a:r>
            <a:r>
              <a:rPr lang="pt-PT" sz="900" b="1" dirty="0" smtClean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AOOP </a:t>
            </a:r>
            <a:r>
              <a:rPr lang="pt-PT" sz="900" dirty="0">
                <a:latin typeface="Arial" charset="0"/>
                <a:ea typeface="Arial" charset="0"/>
                <a:cs typeface="Arial" charset="0"/>
              </a:rPr>
              <a:t>– Ano Letivo 2025/2026 – </a:t>
            </a:r>
            <a:r>
              <a:rPr lang="pt-PT" sz="900" b="1" dirty="0" smtClean="0">
                <a:latin typeface="Arial" charset="0"/>
                <a:ea typeface="Arial" charset="0"/>
                <a:cs typeface="Arial" charset="0"/>
              </a:rPr>
              <a:t>AR Face </a:t>
            </a:r>
            <a:r>
              <a:rPr lang="pt-PT" sz="900" b="1" dirty="0" err="1" smtClean="0">
                <a:latin typeface="Arial" charset="0"/>
                <a:ea typeface="Arial" charset="0"/>
                <a:cs typeface="Arial" charset="0"/>
              </a:rPr>
              <a:t>Filters</a:t>
            </a:r>
            <a:endParaRPr lang="pt-PT" sz="900" b="1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10" name="AutoShape 7" descr="JavaScript | Coding Help Wiki | Fandom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PT"/>
          </a:p>
        </p:txBody>
      </p:sp>
      <p:sp>
        <p:nvSpPr>
          <p:cNvPr id="6" name="Retângulo 5"/>
          <p:cNvSpPr/>
          <p:nvPr/>
        </p:nvSpPr>
        <p:spPr>
          <a:xfrm>
            <a:off x="238125" y="1534097"/>
            <a:ext cx="4572000" cy="3785652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PT" sz="1600" b="1" dirty="0">
                <a:latin typeface="Arial" panose="020B0604020202020204" pitchFamily="34" charset="0"/>
                <a:cs typeface="Arial" panose="020B0604020202020204" pitchFamily="34" charset="0"/>
              </a:rPr>
              <a:t>Efeitos implementados:</a:t>
            </a:r>
            <a:endParaRPr lang="pt-PT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PT" sz="16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Glitch</a:t>
            </a:r>
            <a:endParaRPr lang="pt-PT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 Inferno</a:t>
            </a:r>
            <a:endParaRPr lang="pt-PT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PT" sz="16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Matrix</a:t>
            </a:r>
            <a:endParaRPr lang="pt-PT" sz="16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pt-PT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pt-PT" sz="1600" b="1" dirty="0">
                <a:latin typeface="Arial" panose="020B0604020202020204" pitchFamily="34" charset="0"/>
                <a:cs typeface="Arial" panose="020B0604020202020204" pitchFamily="34" charset="0"/>
              </a:rPr>
              <a:t>Características:</a:t>
            </a:r>
            <a:endParaRPr lang="pt-PT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 Desenhados </a:t>
            </a:r>
            <a:r>
              <a:rPr lang="pt-PT" sz="1600" dirty="0">
                <a:latin typeface="Arial" panose="020B0604020202020204" pitchFamily="34" charset="0"/>
                <a:cs typeface="Arial" panose="020B0604020202020204" pitchFamily="34" charset="0"/>
              </a:rPr>
              <a:t>em </a:t>
            </a:r>
            <a:r>
              <a:rPr lang="pt-PT" sz="1600" dirty="0" err="1">
                <a:latin typeface="Arial" panose="020B0604020202020204" pitchFamily="34" charset="0"/>
                <a:cs typeface="Arial" panose="020B0604020202020204" pitchFamily="34" charset="0"/>
              </a:rPr>
              <a:t>Canvas</a:t>
            </a:r>
            <a:r>
              <a:rPr lang="pt-PT" sz="1600" dirty="0">
                <a:latin typeface="Arial" panose="020B0604020202020204" pitchFamily="34" charset="0"/>
                <a:cs typeface="Arial" panose="020B0604020202020204" pitchFamily="34" charset="0"/>
              </a:rPr>
              <a:t> 2D.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 Aplicados </a:t>
            </a:r>
            <a:r>
              <a:rPr lang="pt-PT" sz="1600" dirty="0">
                <a:latin typeface="Arial" panose="020B0604020202020204" pitchFamily="34" charset="0"/>
                <a:cs typeface="Arial" panose="020B0604020202020204" pitchFamily="34" charset="0"/>
              </a:rPr>
              <a:t>sobre a zona da face.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 Funcionam </a:t>
            </a:r>
            <a:r>
              <a:rPr lang="pt-PT" sz="1600" dirty="0">
                <a:latin typeface="Arial" panose="020B0604020202020204" pitchFamily="34" charset="0"/>
                <a:cs typeface="Arial" panose="020B0604020202020204" pitchFamily="34" charset="0"/>
              </a:rPr>
              <a:t>em tempo real.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 Podem </a:t>
            </a:r>
            <a:r>
              <a:rPr lang="pt-PT" sz="1600" dirty="0">
                <a:latin typeface="Arial" panose="020B0604020202020204" pitchFamily="34" charset="0"/>
                <a:cs typeface="Arial" panose="020B0604020202020204" pitchFamily="34" charset="0"/>
              </a:rPr>
              <a:t>ser combinados com filtros 2D ou 3D.</a:t>
            </a:r>
          </a:p>
        </p:txBody>
      </p:sp>
      <p:pic>
        <p:nvPicPr>
          <p:cNvPr id="8" name="Imagem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52926" y="1680631"/>
            <a:ext cx="5048955" cy="2676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85790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Text Box 10"/>
          <p:cNvSpPr txBox="1">
            <a:spLocks noChangeArrowheads="1"/>
          </p:cNvSpPr>
          <p:nvPr/>
        </p:nvSpPr>
        <p:spPr bwMode="auto">
          <a:xfrm>
            <a:off x="8288338" y="6296025"/>
            <a:ext cx="8270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pt-PT"/>
          </a:p>
        </p:txBody>
      </p:sp>
      <p:sp>
        <p:nvSpPr>
          <p:cNvPr id="10244" name="Rectangle 11"/>
          <p:cNvSpPr>
            <a:spLocks noChangeArrowheads="1"/>
          </p:cNvSpPr>
          <p:nvPr/>
        </p:nvSpPr>
        <p:spPr bwMode="auto">
          <a:xfrm>
            <a:off x="8327571" y="6496091"/>
            <a:ext cx="9366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pt-PT" sz="1000" dirty="0"/>
              <a:t>- </a:t>
            </a:r>
            <a:fld id="{1234D2FF-8FB9-47A1-B8C9-42A5F500BA2F}" type="slidenum">
              <a:rPr lang="pt-PT" sz="1000"/>
              <a:pPr algn="ctr"/>
              <a:t>10</a:t>
            </a:fld>
            <a:r>
              <a:rPr lang="pt-PT" sz="1000" dirty="0"/>
              <a:t> -</a:t>
            </a:r>
          </a:p>
        </p:txBody>
      </p:sp>
      <p:sp>
        <p:nvSpPr>
          <p:cNvPr id="9229" name="Text Box 13"/>
          <p:cNvSpPr txBox="1">
            <a:spLocks noChangeArrowheads="1"/>
          </p:cNvSpPr>
          <p:nvPr/>
        </p:nvSpPr>
        <p:spPr bwMode="auto">
          <a:xfrm>
            <a:off x="306388" y="557213"/>
            <a:ext cx="698182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■</a:t>
            </a:r>
            <a:r>
              <a:rPr lang="pt-PT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</a:t>
            </a:r>
            <a:r>
              <a:rPr lang="pt-PT" sz="2000" b="1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Ajustes, </a:t>
            </a:r>
            <a:r>
              <a:rPr lang="pt-PT" sz="2000" b="1" dirty="0" err="1" smtClean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presets</a:t>
            </a:r>
            <a:r>
              <a:rPr lang="pt-PT" sz="2000" b="1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e combinações</a:t>
            </a:r>
            <a:endParaRPr lang="pt-PT" sz="2000" b="1" dirty="0"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10247" name="Line 15"/>
          <p:cNvSpPr>
            <a:spLocks noChangeShapeType="1"/>
          </p:cNvSpPr>
          <p:nvPr/>
        </p:nvSpPr>
        <p:spPr bwMode="auto">
          <a:xfrm>
            <a:off x="250825" y="0"/>
            <a:ext cx="0" cy="765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PT"/>
          </a:p>
        </p:txBody>
      </p:sp>
      <p:sp>
        <p:nvSpPr>
          <p:cNvPr id="9237" name="Text Box 21"/>
          <p:cNvSpPr txBox="1">
            <a:spLocks noChangeArrowheads="1"/>
          </p:cNvSpPr>
          <p:nvPr/>
        </p:nvSpPr>
        <p:spPr bwMode="auto">
          <a:xfrm>
            <a:off x="381001" y="44450"/>
            <a:ext cx="6138752" cy="5309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1200" b="1" dirty="0" smtClean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AOOP </a:t>
            </a: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– </a:t>
            </a:r>
            <a:r>
              <a:rPr lang="pt-PT" sz="1200" b="1" dirty="0" smtClean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AR Face </a:t>
            </a:r>
            <a:r>
              <a:rPr lang="pt-PT" sz="1200" b="1" dirty="0" err="1" smtClean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Filters</a:t>
            </a:r>
            <a:endParaRPr lang="pt-PT" sz="1200" b="1" dirty="0" smtClean="0">
              <a:solidFill>
                <a:srgbClr val="FF33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  <a:p>
            <a:pPr>
              <a:spcBef>
                <a:spcPct val="50000"/>
              </a:spcBef>
              <a:defRPr/>
            </a:pPr>
            <a:r>
              <a:rPr lang="pt-PT" sz="1100" b="1" dirty="0" smtClean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Aplicação web de filtros faciais em tempo real</a:t>
            </a:r>
            <a:endParaRPr lang="pt-PT" sz="1100" b="1" dirty="0">
              <a:solidFill>
                <a:srgbClr val="FF33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19" name="Marcador de Posição de Conteúdo 2"/>
          <p:cNvSpPr txBox="1">
            <a:spLocks/>
          </p:cNvSpPr>
          <p:nvPr/>
        </p:nvSpPr>
        <p:spPr>
          <a:xfrm>
            <a:off x="457200" y="1219200"/>
            <a:ext cx="8229600" cy="49377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200000"/>
              </a:lnSpc>
              <a:spcBef>
                <a:spcPct val="20000"/>
              </a:spcBef>
            </a:pPr>
            <a:endParaRPr lang="pt-PT" sz="2000" dirty="0">
              <a:latin typeface="Arial" pitchFamily="34" charset="0"/>
              <a:cs typeface="Arial" pitchFamily="34" charset="0"/>
            </a:endParaRPr>
          </a:p>
          <a:p>
            <a:pPr lvl="0">
              <a:lnSpc>
                <a:spcPct val="200000"/>
              </a:lnSpc>
              <a:spcBef>
                <a:spcPct val="20000"/>
              </a:spcBef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457200" marR="0" lvl="1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457200" marR="0" lvl="1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54D42837-E70D-4C64-A8A7-E7F751502B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5" y="904241"/>
            <a:ext cx="9014192" cy="26648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81982921-1900-46B5-BE82-07BECCD639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20212"/>
            <a:ext cx="9144000" cy="253252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BE263CB9-5E3B-4385-9450-974CDF0F6C7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488336"/>
            <a:ext cx="545959" cy="199802"/>
          </a:xfrm>
          <a:prstGeom prst="rect">
            <a:avLst/>
          </a:prstGeom>
        </p:spPr>
      </p:pic>
      <p:sp>
        <p:nvSpPr>
          <p:cNvPr id="3" name="Rectângulo 19">
            <a:extLst>
              <a:ext uri="{FF2B5EF4-FFF2-40B4-BE49-F238E27FC236}">
                <a16:creationId xmlns:a16="http://schemas.microsoft.com/office/drawing/2014/main" id="{850208AF-C5A5-C009-177D-8C27BB5DCC8B}"/>
              </a:ext>
            </a:extLst>
          </p:cNvPr>
          <p:cNvSpPr/>
          <p:nvPr/>
        </p:nvSpPr>
        <p:spPr>
          <a:xfrm>
            <a:off x="5535613" y="553019"/>
            <a:ext cx="3505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PT" sz="1100" b="1" cap="all" dirty="0" err="1">
                <a:highlight>
                  <a:srgbClr val="FFFF00"/>
                </a:highlight>
              </a:rPr>
              <a:t>Degree</a:t>
            </a:r>
            <a:r>
              <a:rPr lang="pt-PT" sz="1100" b="1" cap="all" dirty="0">
                <a:highlight>
                  <a:srgbClr val="FFFF00"/>
                </a:highlight>
              </a:rPr>
              <a:t> IN </a:t>
            </a:r>
            <a:r>
              <a:rPr lang="pt-PT" sz="1100" b="1" cap="all" dirty="0" err="1">
                <a:highlight>
                  <a:srgbClr val="FFFF00"/>
                </a:highlight>
              </a:rPr>
              <a:t>Informatics</a:t>
            </a:r>
            <a:r>
              <a:rPr lang="pt-PT" sz="1100" b="1" cap="all" dirty="0">
                <a:highlight>
                  <a:srgbClr val="FFFF00"/>
                </a:highlight>
              </a:rPr>
              <a:t> </a:t>
            </a:r>
            <a:r>
              <a:rPr lang="pt-PT" sz="1100" b="1" cap="all" dirty="0" err="1">
                <a:highlight>
                  <a:srgbClr val="FFFF00"/>
                </a:highlight>
              </a:rPr>
              <a:t>engineering</a:t>
            </a:r>
            <a:endParaRPr lang="pt-PT" sz="1100" dirty="0">
              <a:highlight>
                <a:srgbClr val="FFFF00"/>
              </a:highlight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4B69841B-4743-42E9-837A-73B87FC5C8C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5316" y="9186"/>
            <a:ext cx="2575034" cy="639880"/>
          </a:xfrm>
          <a:prstGeom prst="rect">
            <a:avLst/>
          </a:prstGeom>
        </p:spPr>
      </p:pic>
      <p:sp>
        <p:nvSpPr>
          <p:cNvPr id="2" name="Subtítulo 2">
            <a:extLst>
              <a:ext uri="{FF2B5EF4-FFF2-40B4-BE49-F238E27FC236}">
                <a16:creationId xmlns:a16="http://schemas.microsoft.com/office/drawing/2014/main" id="{50369DE4-0D6E-7A10-AF37-333F300DD770}"/>
              </a:ext>
            </a:extLst>
          </p:cNvPr>
          <p:cNvSpPr txBox="1">
            <a:spLocks/>
          </p:cNvSpPr>
          <p:nvPr/>
        </p:nvSpPr>
        <p:spPr>
          <a:xfrm>
            <a:off x="836017" y="6524516"/>
            <a:ext cx="7698382" cy="162409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900" dirty="0">
                <a:latin typeface="Arial" charset="0"/>
                <a:ea typeface="Arial" charset="0"/>
                <a:cs typeface="Arial" charset="0"/>
              </a:rPr>
              <a:t>Francisco </a:t>
            </a:r>
            <a:r>
              <a:rPr lang="pt-PT" sz="900" dirty="0" smtClean="0">
                <a:latin typeface="Arial" charset="0"/>
                <a:ea typeface="Arial" charset="0"/>
                <a:cs typeface="Arial" charset="0"/>
              </a:rPr>
              <a:t>Matos, Paulo </a:t>
            </a:r>
            <a:r>
              <a:rPr lang="pt-PT" sz="900" dirty="0" err="1" smtClean="0">
                <a:latin typeface="Arial" charset="0"/>
                <a:ea typeface="Arial" charset="0"/>
                <a:cs typeface="Arial" charset="0"/>
              </a:rPr>
              <a:t>SImões</a:t>
            </a:r>
            <a:r>
              <a:rPr lang="pt-PT" sz="900" dirty="0" smtClean="0">
                <a:latin typeface="Arial" charset="0"/>
                <a:ea typeface="Arial" charset="0"/>
                <a:cs typeface="Arial" charset="0"/>
              </a:rPr>
              <a:t> </a:t>
            </a:r>
            <a:r>
              <a:rPr lang="pt-PT" sz="900" dirty="0">
                <a:latin typeface="Arial" charset="0"/>
                <a:ea typeface="Arial" charset="0"/>
                <a:cs typeface="Arial" charset="0"/>
              </a:rPr>
              <a:t>| </a:t>
            </a:r>
            <a:r>
              <a:rPr lang="pt-PT" sz="900" b="1" dirty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Unidade Curricular: </a:t>
            </a:r>
            <a:r>
              <a:rPr lang="pt-PT" sz="900" b="1" dirty="0" smtClean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AOOP </a:t>
            </a:r>
            <a:r>
              <a:rPr lang="pt-PT" sz="900" dirty="0">
                <a:latin typeface="Arial" charset="0"/>
                <a:ea typeface="Arial" charset="0"/>
                <a:cs typeface="Arial" charset="0"/>
              </a:rPr>
              <a:t>– Ano Letivo 2025/2026 – </a:t>
            </a:r>
            <a:r>
              <a:rPr lang="pt-PT" sz="900" b="1" dirty="0" smtClean="0">
                <a:latin typeface="Arial" charset="0"/>
                <a:ea typeface="Arial" charset="0"/>
                <a:cs typeface="Arial" charset="0"/>
              </a:rPr>
              <a:t>AR Face </a:t>
            </a:r>
            <a:r>
              <a:rPr lang="pt-PT" sz="900" b="1" dirty="0" err="1" smtClean="0">
                <a:latin typeface="Arial" charset="0"/>
                <a:ea typeface="Arial" charset="0"/>
                <a:cs typeface="Arial" charset="0"/>
              </a:rPr>
              <a:t>Filters</a:t>
            </a:r>
            <a:endParaRPr lang="pt-PT" sz="900" b="1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10" name="AutoShape 7" descr="JavaScript | Coding Help Wiki | Fandom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PT"/>
          </a:p>
        </p:txBody>
      </p:sp>
      <p:sp>
        <p:nvSpPr>
          <p:cNvPr id="4" name="Retângulo 3"/>
          <p:cNvSpPr/>
          <p:nvPr/>
        </p:nvSpPr>
        <p:spPr>
          <a:xfrm>
            <a:off x="216613" y="1487158"/>
            <a:ext cx="4572000" cy="3831818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PT" sz="1600" b="1" dirty="0">
                <a:latin typeface="Arial" panose="020B0604020202020204" pitchFamily="34" charset="0"/>
                <a:cs typeface="Arial" panose="020B0604020202020204" pitchFamily="34" charset="0"/>
              </a:rPr>
              <a:t>Funcionalidades adicionais:</a:t>
            </a:r>
            <a:endParaRPr lang="pt-PT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 Ajuste </a:t>
            </a:r>
            <a:r>
              <a:rPr lang="pt-PT" sz="1600" dirty="0">
                <a:latin typeface="Arial" panose="020B0604020202020204" pitchFamily="34" charset="0"/>
                <a:cs typeface="Arial" panose="020B0604020202020204" pitchFamily="34" charset="0"/>
              </a:rPr>
              <a:t>manual de cada filtro.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PT" sz="16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Presets</a:t>
            </a:r>
            <a:r>
              <a:rPr lang="pt-PT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PT" sz="1600" dirty="0">
                <a:latin typeface="Arial" panose="020B0604020202020204" pitchFamily="34" charset="0"/>
                <a:cs typeface="Arial" panose="020B0604020202020204" pitchFamily="34" charset="0"/>
              </a:rPr>
              <a:t>guardados no </a:t>
            </a:r>
            <a:r>
              <a:rPr lang="pt-PT" sz="1600" dirty="0" err="1">
                <a:latin typeface="Arial" panose="020B0604020202020204" pitchFamily="34" charset="0"/>
                <a:cs typeface="Arial" panose="020B0604020202020204" pitchFamily="34" charset="0"/>
              </a:rPr>
              <a:t>LocalStorage</a:t>
            </a:r>
            <a:r>
              <a:rPr lang="pt-PT" sz="16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 Botão </a:t>
            </a:r>
            <a:r>
              <a:rPr lang="pt-PT" sz="1600" dirty="0">
                <a:latin typeface="Arial" panose="020B0604020202020204" pitchFamily="34" charset="0"/>
                <a:cs typeface="Arial" panose="020B0604020202020204" pitchFamily="34" charset="0"/>
              </a:rPr>
              <a:t>para limpar filtros</a:t>
            </a:r>
            <a:r>
              <a:rPr lang="pt-PT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pt-PT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 Sistema </a:t>
            </a:r>
            <a:r>
              <a:rPr lang="pt-PT" sz="1600" dirty="0">
                <a:latin typeface="Arial" panose="020B0604020202020204" pitchFamily="34" charset="0"/>
                <a:cs typeface="Arial" panose="020B0604020202020204" pitchFamily="34" charset="0"/>
              </a:rPr>
              <a:t>de compatibilidade por zonas</a:t>
            </a:r>
            <a:r>
              <a:rPr lang="pt-PT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pt-PT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pt-PT" sz="1600" b="1" dirty="0">
                <a:latin typeface="Arial" panose="020B0604020202020204" pitchFamily="34" charset="0"/>
                <a:cs typeface="Arial" panose="020B0604020202020204" pitchFamily="34" charset="0"/>
              </a:rPr>
              <a:t>Combinações possíveis:</a:t>
            </a:r>
            <a:endParaRPr lang="pt-PT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 Chapéu </a:t>
            </a:r>
            <a:r>
              <a:rPr lang="pt-PT" sz="1600" dirty="0">
                <a:latin typeface="Arial" panose="020B0604020202020204" pitchFamily="34" charset="0"/>
                <a:cs typeface="Arial" panose="020B0604020202020204" pitchFamily="34" charset="0"/>
              </a:rPr>
              <a:t>3D + Óculos 3D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 Chapéu </a:t>
            </a:r>
            <a:r>
              <a:rPr lang="pt-PT" sz="1600" dirty="0">
                <a:latin typeface="Arial" panose="020B0604020202020204" pitchFamily="34" charset="0"/>
                <a:cs typeface="Arial" panose="020B0604020202020204" pitchFamily="34" charset="0"/>
              </a:rPr>
              <a:t>3D + Óculos 3D + </a:t>
            </a:r>
            <a:r>
              <a:rPr lang="pt-PT" sz="1600" dirty="0" err="1">
                <a:latin typeface="Arial" panose="020B0604020202020204" pitchFamily="34" charset="0"/>
                <a:cs typeface="Arial" panose="020B0604020202020204" pitchFamily="34" charset="0"/>
              </a:rPr>
              <a:t>Matrix</a:t>
            </a:r>
            <a:endParaRPr lang="pt-PT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 Pixel </a:t>
            </a:r>
            <a:r>
              <a:rPr lang="pt-PT" sz="1600" dirty="0" err="1">
                <a:latin typeface="Arial" panose="020B0604020202020204" pitchFamily="34" charset="0"/>
                <a:cs typeface="Arial" panose="020B0604020202020204" pitchFamily="34" charset="0"/>
              </a:rPr>
              <a:t>Glasses</a:t>
            </a:r>
            <a:r>
              <a:rPr lang="pt-PT" sz="1600" dirty="0">
                <a:latin typeface="Arial" panose="020B0604020202020204" pitchFamily="34" charset="0"/>
                <a:cs typeface="Arial" panose="020B0604020202020204" pitchFamily="34" charset="0"/>
              </a:rPr>
              <a:t> + Inferno</a:t>
            </a:r>
          </a:p>
        </p:txBody>
      </p:sp>
      <p:pic>
        <p:nvPicPr>
          <p:cNvPr id="11" name="Imagem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05556" y="1508929"/>
            <a:ext cx="4428393" cy="2556037"/>
          </a:xfrm>
          <a:prstGeom prst="rect">
            <a:avLst/>
          </a:prstGeom>
        </p:spPr>
      </p:pic>
      <p:pic>
        <p:nvPicPr>
          <p:cNvPr id="12" name="Imagem 1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79211" y="4382956"/>
            <a:ext cx="4681083" cy="1637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91003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Text Box 10"/>
          <p:cNvSpPr txBox="1">
            <a:spLocks noChangeArrowheads="1"/>
          </p:cNvSpPr>
          <p:nvPr/>
        </p:nvSpPr>
        <p:spPr bwMode="auto">
          <a:xfrm>
            <a:off x="8288338" y="6296025"/>
            <a:ext cx="8270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pt-PT"/>
          </a:p>
        </p:txBody>
      </p:sp>
      <p:sp>
        <p:nvSpPr>
          <p:cNvPr id="10244" name="Rectangle 11"/>
          <p:cNvSpPr>
            <a:spLocks noChangeArrowheads="1"/>
          </p:cNvSpPr>
          <p:nvPr/>
        </p:nvSpPr>
        <p:spPr bwMode="auto">
          <a:xfrm>
            <a:off x="8327571" y="6496091"/>
            <a:ext cx="9366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pt-PT" sz="1000" dirty="0"/>
              <a:t>- </a:t>
            </a:r>
            <a:fld id="{1234D2FF-8FB9-47A1-B8C9-42A5F500BA2F}" type="slidenum">
              <a:rPr lang="pt-PT" sz="1000"/>
              <a:pPr algn="ctr"/>
              <a:t>11</a:t>
            </a:fld>
            <a:r>
              <a:rPr lang="pt-PT" sz="1000" dirty="0"/>
              <a:t> -</a:t>
            </a:r>
          </a:p>
        </p:txBody>
      </p:sp>
      <p:sp>
        <p:nvSpPr>
          <p:cNvPr id="9229" name="Text Box 13"/>
          <p:cNvSpPr txBox="1">
            <a:spLocks noChangeArrowheads="1"/>
          </p:cNvSpPr>
          <p:nvPr/>
        </p:nvSpPr>
        <p:spPr bwMode="auto">
          <a:xfrm>
            <a:off x="306388" y="557213"/>
            <a:ext cx="698182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■</a:t>
            </a:r>
            <a:r>
              <a:rPr lang="pt-PT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</a:t>
            </a:r>
            <a:r>
              <a:rPr lang="pt-PT" sz="2000" b="1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Captura de fotografia</a:t>
            </a:r>
            <a:endParaRPr lang="pt-PT" sz="2000" b="1" dirty="0"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10247" name="Line 15"/>
          <p:cNvSpPr>
            <a:spLocks noChangeShapeType="1"/>
          </p:cNvSpPr>
          <p:nvPr/>
        </p:nvSpPr>
        <p:spPr bwMode="auto">
          <a:xfrm>
            <a:off x="250825" y="0"/>
            <a:ext cx="0" cy="765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PT"/>
          </a:p>
        </p:txBody>
      </p:sp>
      <p:sp>
        <p:nvSpPr>
          <p:cNvPr id="9237" name="Text Box 21"/>
          <p:cNvSpPr txBox="1">
            <a:spLocks noChangeArrowheads="1"/>
          </p:cNvSpPr>
          <p:nvPr/>
        </p:nvSpPr>
        <p:spPr bwMode="auto">
          <a:xfrm>
            <a:off x="381001" y="44450"/>
            <a:ext cx="6138752" cy="5309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1200" b="1" dirty="0" smtClean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AOOP </a:t>
            </a: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– </a:t>
            </a:r>
            <a:r>
              <a:rPr lang="pt-PT" sz="1200" b="1" dirty="0" smtClean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AR Face </a:t>
            </a:r>
            <a:r>
              <a:rPr lang="pt-PT" sz="1200" b="1" dirty="0" err="1" smtClean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Filters</a:t>
            </a:r>
            <a:endParaRPr lang="pt-PT" sz="1200" b="1" dirty="0" smtClean="0">
              <a:solidFill>
                <a:srgbClr val="FF33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  <a:p>
            <a:pPr>
              <a:spcBef>
                <a:spcPct val="50000"/>
              </a:spcBef>
              <a:defRPr/>
            </a:pPr>
            <a:r>
              <a:rPr lang="pt-PT" sz="1100" b="1" dirty="0" smtClean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Aplicação web de filtros faciais em tempo real</a:t>
            </a:r>
            <a:endParaRPr lang="pt-PT" sz="1100" b="1" dirty="0">
              <a:solidFill>
                <a:srgbClr val="FF33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19" name="Marcador de Posição de Conteúdo 2"/>
          <p:cNvSpPr txBox="1">
            <a:spLocks/>
          </p:cNvSpPr>
          <p:nvPr/>
        </p:nvSpPr>
        <p:spPr>
          <a:xfrm>
            <a:off x="457200" y="1219200"/>
            <a:ext cx="8229600" cy="49377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200000"/>
              </a:lnSpc>
              <a:spcBef>
                <a:spcPct val="20000"/>
              </a:spcBef>
            </a:pPr>
            <a:endParaRPr lang="pt-PT" sz="2000" dirty="0">
              <a:latin typeface="Arial" pitchFamily="34" charset="0"/>
              <a:cs typeface="Arial" pitchFamily="34" charset="0"/>
            </a:endParaRPr>
          </a:p>
          <a:p>
            <a:pPr lvl="0">
              <a:lnSpc>
                <a:spcPct val="200000"/>
              </a:lnSpc>
              <a:spcBef>
                <a:spcPct val="20000"/>
              </a:spcBef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457200" marR="0" lvl="1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457200" marR="0" lvl="1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54D42837-E70D-4C64-A8A7-E7F751502B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5" y="904241"/>
            <a:ext cx="9014192" cy="26648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81982921-1900-46B5-BE82-07BECCD639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20212"/>
            <a:ext cx="9144000" cy="253252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BE263CB9-5E3B-4385-9450-974CDF0F6C7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488336"/>
            <a:ext cx="545959" cy="199802"/>
          </a:xfrm>
          <a:prstGeom prst="rect">
            <a:avLst/>
          </a:prstGeom>
        </p:spPr>
      </p:pic>
      <p:sp>
        <p:nvSpPr>
          <p:cNvPr id="3" name="Rectângulo 19">
            <a:extLst>
              <a:ext uri="{FF2B5EF4-FFF2-40B4-BE49-F238E27FC236}">
                <a16:creationId xmlns:a16="http://schemas.microsoft.com/office/drawing/2014/main" id="{850208AF-C5A5-C009-177D-8C27BB5DCC8B}"/>
              </a:ext>
            </a:extLst>
          </p:cNvPr>
          <p:cNvSpPr/>
          <p:nvPr/>
        </p:nvSpPr>
        <p:spPr>
          <a:xfrm>
            <a:off x="5535613" y="553019"/>
            <a:ext cx="3505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PT" sz="1100" b="1" cap="all" dirty="0" err="1">
                <a:highlight>
                  <a:srgbClr val="FFFF00"/>
                </a:highlight>
              </a:rPr>
              <a:t>Degree</a:t>
            </a:r>
            <a:r>
              <a:rPr lang="pt-PT" sz="1100" b="1" cap="all" dirty="0">
                <a:highlight>
                  <a:srgbClr val="FFFF00"/>
                </a:highlight>
              </a:rPr>
              <a:t> IN </a:t>
            </a:r>
            <a:r>
              <a:rPr lang="pt-PT" sz="1100" b="1" cap="all" dirty="0" err="1">
                <a:highlight>
                  <a:srgbClr val="FFFF00"/>
                </a:highlight>
              </a:rPr>
              <a:t>Informatics</a:t>
            </a:r>
            <a:r>
              <a:rPr lang="pt-PT" sz="1100" b="1" cap="all" dirty="0">
                <a:highlight>
                  <a:srgbClr val="FFFF00"/>
                </a:highlight>
              </a:rPr>
              <a:t> </a:t>
            </a:r>
            <a:r>
              <a:rPr lang="pt-PT" sz="1100" b="1" cap="all" dirty="0" err="1">
                <a:highlight>
                  <a:srgbClr val="FFFF00"/>
                </a:highlight>
              </a:rPr>
              <a:t>engineering</a:t>
            </a:r>
            <a:endParaRPr lang="pt-PT" sz="1100" dirty="0">
              <a:highlight>
                <a:srgbClr val="FFFF00"/>
              </a:highlight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4B69841B-4743-42E9-837A-73B87FC5C8C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5316" y="9186"/>
            <a:ext cx="2575034" cy="639880"/>
          </a:xfrm>
          <a:prstGeom prst="rect">
            <a:avLst/>
          </a:prstGeom>
        </p:spPr>
      </p:pic>
      <p:sp>
        <p:nvSpPr>
          <p:cNvPr id="2" name="Subtítulo 2">
            <a:extLst>
              <a:ext uri="{FF2B5EF4-FFF2-40B4-BE49-F238E27FC236}">
                <a16:creationId xmlns:a16="http://schemas.microsoft.com/office/drawing/2014/main" id="{50369DE4-0D6E-7A10-AF37-333F300DD770}"/>
              </a:ext>
            </a:extLst>
          </p:cNvPr>
          <p:cNvSpPr txBox="1">
            <a:spLocks/>
          </p:cNvSpPr>
          <p:nvPr/>
        </p:nvSpPr>
        <p:spPr>
          <a:xfrm>
            <a:off x="836017" y="6524516"/>
            <a:ext cx="7698382" cy="162409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900" dirty="0">
                <a:latin typeface="Arial" charset="0"/>
                <a:ea typeface="Arial" charset="0"/>
                <a:cs typeface="Arial" charset="0"/>
              </a:rPr>
              <a:t>Francisco </a:t>
            </a:r>
            <a:r>
              <a:rPr lang="pt-PT" sz="900" dirty="0" smtClean="0">
                <a:latin typeface="Arial" charset="0"/>
                <a:ea typeface="Arial" charset="0"/>
                <a:cs typeface="Arial" charset="0"/>
              </a:rPr>
              <a:t>Matos, Paulo </a:t>
            </a:r>
            <a:r>
              <a:rPr lang="pt-PT" sz="900" dirty="0" err="1" smtClean="0">
                <a:latin typeface="Arial" charset="0"/>
                <a:ea typeface="Arial" charset="0"/>
                <a:cs typeface="Arial" charset="0"/>
              </a:rPr>
              <a:t>SImões</a:t>
            </a:r>
            <a:r>
              <a:rPr lang="pt-PT" sz="900" dirty="0" smtClean="0">
                <a:latin typeface="Arial" charset="0"/>
                <a:ea typeface="Arial" charset="0"/>
                <a:cs typeface="Arial" charset="0"/>
              </a:rPr>
              <a:t> </a:t>
            </a:r>
            <a:r>
              <a:rPr lang="pt-PT" sz="900" dirty="0">
                <a:latin typeface="Arial" charset="0"/>
                <a:ea typeface="Arial" charset="0"/>
                <a:cs typeface="Arial" charset="0"/>
              </a:rPr>
              <a:t>| </a:t>
            </a:r>
            <a:r>
              <a:rPr lang="pt-PT" sz="900" b="1" dirty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Unidade Curricular: </a:t>
            </a:r>
            <a:r>
              <a:rPr lang="pt-PT" sz="900" b="1" dirty="0" smtClean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AOOP </a:t>
            </a:r>
            <a:r>
              <a:rPr lang="pt-PT" sz="900" dirty="0">
                <a:latin typeface="Arial" charset="0"/>
                <a:ea typeface="Arial" charset="0"/>
                <a:cs typeface="Arial" charset="0"/>
              </a:rPr>
              <a:t>– Ano Letivo 2025/2026 – </a:t>
            </a:r>
            <a:r>
              <a:rPr lang="pt-PT" sz="900" b="1" dirty="0" smtClean="0">
                <a:latin typeface="Arial" charset="0"/>
                <a:ea typeface="Arial" charset="0"/>
                <a:cs typeface="Arial" charset="0"/>
              </a:rPr>
              <a:t>AR Face </a:t>
            </a:r>
            <a:r>
              <a:rPr lang="pt-PT" sz="900" b="1" dirty="0" err="1" smtClean="0">
                <a:latin typeface="Arial" charset="0"/>
                <a:ea typeface="Arial" charset="0"/>
                <a:cs typeface="Arial" charset="0"/>
              </a:rPr>
              <a:t>Filters</a:t>
            </a:r>
            <a:endParaRPr lang="pt-PT" sz="900" b="1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10" name="AutoShape 7" descr="JavaScript | Coding Help Wiki | Fandom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PT"/>
          </a:p>
        </p:txBody>
      </p:sp>
      <p:sp>
        <p:nvSpPr>
          <p:cNvPr id="6" name="Retângulo 5"/>
          <p:cNvSpPr/>
          <p:nvPr/>
        </p:nvSpPr>
        <p:spPr>
          <a:xfrm>
            <a:off x="238125" y="1225659"/>
            <a:ext cx="4572000" cy="457670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pt-PT" sz="1400" b="1" dirty="0">
                <a:latin typeface="Arial" panose="020B0604020202020204" pitchFamily="34" charset="0"/>
                <a:cs typeface="Arial" panose="020B0604020202020204" pitchFamily="34" charset="0"/>
              </a:rPr>
              <a:t>Funcionalidade:</a:t>
            </a:r>
            <a:r>
              <a:rPr lang="pt-PT" sz="1400" dirty="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pt-PT" sz="1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PT" sz="1400" dirty="0">
                <a:latin typeface="Arial" panose="020B0604020202020204" pitchFamily="34" charset="0"/>
                <a:cs typeface="Arial" panose="020B0604020202020204" pitchFamily="34" charset="0"/>
              </a:rPr>
              <a:t>A aplicação permite tirar uma fotografia com todos os filtros aplicados</a:t>
            </a:r>
            <a:r>
              <a:rPr lang="pt-PT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>
              <a:lnSpc>
                <a:spcPct val="150000"/>
              </a:lnSpc>
            </a:pPr>
            <a:endParaRPr lang="pt-PT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pt-PT" sz="1400" b="1" dirty="0">
                <a:latin typeface="Arial" panose="020B0604020202020204" pitchFamily="34" charset="0"/>
                <a:cs typeface="Arial" panose="020B0604020202020204" pitchFamily="34" charset="0"/>
              </a:rPr>
              <a:t>A captura inclui:</a:t>
            </a:r>
            <a:endParaRPr lang="pt-PT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 Imagem </a:t>
            </a:r>
            <a:r>
              <a:rPr lang="pt-PT" sz="1400" dirty="0">
                <a:latin typeface="Arial" panose="020B0604020202020204" pitchFamily="34" charset="0"/>
                <a:cs typeface="Arial" panose="020B0604020202020204" pitchFamily="34" charset="0"/>
              </a:rPr>
              <a:t>da webcam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 Filtros </a:t>
            </a:r>
            <a:r>
              <a:rPr lang="pt-PT" sz="1400" dirty="0">
                <a:latin typeface="Arial" panose="020B0604020202020204" pitchFamily="34" charset="0"/>
                <a:cs typeface="Arial" panose="020B0604020202020204" pitchFamily="34" charset="0"/>
              </a:rPr>
              <a:t>2D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 Filtros </a:t>
            </a:r>
            <a:r>
              <a:rPr lang="pt-PT" sz="1400" dirty="0">
                <a:latin typeface="Arial" panose="020B0604020202020204" pitchFamily="34" charset="0"/>
                <a:cs typeface="Arial" panose="020B0604020202020204" pitchFamily="34" charset="0"/>
              </a:rPr>
              <a:t>3D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 Efeitos visuais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pt-PT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pt-PT" sz="1400" b="1" dirty="0">
                <a:latin typeface="Arial" panose="020B0604020202020204" pitchFamily="34" charset="0"/>
                <a:cs typeface="Arial" panose="020B0604020202020204" pitchFamily="34" charset="0"/>
              </a:rPr>
              <a:t>Outras opções:</a:t>
            </a:r>
            <a:endParaRPr lang="pt-PT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 Pré </a:t>
            </a:r>
            <a:r>
              <a:rPr lang="pt-PT" sz="1400" dirty="0">
                <a:latin typeface="Arial" panose="020B0604020202020204" pitchFamily="34" charset="0"/>
                <a:cs typeface="Arial" panose="020B0604020202020204" pitchFamily="34" charset="0"/>
              </a:rPr>
              <a:t>visualização da fotografia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 Ampliação </a:t>
            </a:r>
            <a:r>
              <a:rPr lang="pt-PT" sz="1400" dirty="0">
                <a:latin typeface="Arial" panose="020B0604020202020204" pitchFamily="34" charset="0"/>
                <a:cs typeface="Arial" panose="020B0604020202020204" pitchFamily="34" charset="0"/>
              </a:rPr>
              <a:t>da imagem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 Transferência </a:t>
            </a:r>
            <a:r>
              <a:rPr lang="pt-PT" sz="1400" dirty="0">
                <a:latin typeface="Arial" panose="020B0604020202020204" pitchFamily="34" charset="0"/>
                <a:cs typeface="Arial" panose="020B0604020202020204" pitchFamily="34" charset="0"/>
              </a:rPr>
              <a:t>em PNG</a:t>
            </a:r>
          </a:p>
        </p:txBody>
      </p:sp>
      <p:pic>
        <p:nvPicPr>
          <p:cNvPr id="8" name="Imagem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23940" y="2102332"/>
            <a:ext cx="5210902" cy="2953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13925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Text Box 10"/>
          <p:cNvSpPr txBox="1">
            <a:spLocks noChangeArrowheads="1"/>
          </p:cNvSpPr>
          <p:nvPr/>
        </p:nvSpPr>
        <p:spPr bwMode="auto">
          <a:xfrm>
            <a:off x="8288338" y="6296025"/>
            <a:ext cx="8270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pt-PT"/>
          </a:p>
        </p:txBody>
      </p:sp>
      <p:sp>
        <p:nvSpPr>
          <p:cNvPr id="10244" name="Rectangle 11"/>
          <p:cNvSpPr>
            <a:spLocks noChangeArrowheads="1"/>
          </p:cNvSpPr>
          <p:nvPr/>
        </p:nvSpPr>
        <p:spPr bwMode="auto">
          <a:xfrm>
            <a:off x="8327571" y="6496091"/>
            <a:ext cx="9366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pt-PT" sz="1000" dirty="0"/>
              <a:t>- </a:t>
            </a:r>
            <a:fld id="{1234D2FF-8FB9-47A1-B8C9-42A5F500BA2F}" type="slidenum">
              <a:rPr lang="pt-PT" sz="1000"/>
              <a:pPr algn="ctr"/>
              <a:t>12</a:t>
            </a:fld>
            <a:r>
              <a:rPr lang="pt-PT" sz="1000" dirty="0"/>
              <a:t> -</a:t>
            </a:r>
          </a:p>
        </p:txBody>
      </p:sp>
      <p:sp>
        <p:nvSpPr>
          <p:cNvPr id="9229" name="Text Box 13"/>
          <p:cNvSpPr txBox="1">
            <a:spLocks noChangeArrowheads="1"/>
          </p:cNvSpPr>
          <p:nvPr/>
        </p:nvSpPr>
        <p:spPr bwMode="auto">
          <a:xfrm>
            <a:off x="306388" y="557213"/>
            <a:ext cx="698182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■</a:t>
            </a:r>
            <a:r>
              <a:rPr lang="pt-PT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</a:t>
            </a:r>
            <a:r>
              <a:rPr lang="pt-PT" sz="2000" b="1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Limitações</a:t>
            </a:r>
            <a:endParaRPr lang="pt-PT" sz="2000" b="1" dirty="0"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10247" name="Line 15"/>
          <p:cNvSpPr>
            <a:spLocks noChangeShapeType="1"/>
          </p:cNvSpPr>
          <p:nvPr/>
        </p:nvSpPr>
        <p:spPr bwMode="auto">
          <a:xfrm>
            <a:off x="250825" y="0"/>
            <a:ext cx="0" cy="765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PT"/>
          </a:p>
        </p:txBody>
      </p:sp>
      <p:sp>
        <p:nvSpPr>
          <p:cNvPr id="9237" name="Text Box 21"/>
          <p:cNvSpPr txBox="1">
            <a:spLocks noChangeArrowheads="1"/>
          </p:cNvSpPr>
          <p:nvPr/>
        </p:nvSpPr>
        <p:spPr bwMode="auto">
          <a:xfrm>
            <a:off x="381001" y="44450"/>
            <a:ext cx="6138752" cy="5309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1200" b="1" dirty="0" smtClean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AOOP </a:t>
            </a: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– </a:t>
            </a:r>
            <a:r>
              <a:rPr lang="pt-PT" sz="1200" b="1" dirty="0" smtClean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AR Face </a:t>
            </a:r>
            <a:r>
              <a:rPr lang="pt-PT" sz="1200" b="1" dirty="0" err="1" smtClean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Filters</a:t>
            </a:r>
            <a:endParaRPr lang="pt-PT" sz="1200" b="1" dirty="0" smtClean="0">
              <a:solidFill>
                <a:srgbClr val="FF33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  <a:p>
            <a:pPr>
              <a:spcBef>
                <a:spcPct val="50000"/>
              </a:spcBef>
              <a:defRPr/>
            </a:pPr>
            <a:r>
              <a:rPr lang="pt-PT" sz="1100" b="1" dirty="0" smtClean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Aplicação web de filtros faciais em tempo real</a:t>
            </a:r>
            <a:endParaRPr lang="pt-PT" sz="1100" b="1" dirty="0">
              <a:solidFill>
                <a:srgbClr val="FF33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19" name="Marcador de Posição de Conteúdo 2"/>
          <p:cNvSpPr txBox="1">
            <a:spLocks/>
          </p:cNvSpPr>
          <p:nvPr/>
        </p:nvSpPr>
        <p:spPr>
          <a:xfrm>
            <a:off x="457200" y="1219200"/>
            <a:ext cx="8229600" cy="49377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200000"/>
              </a:lnSpc>
              <a:spcBef>
                <a:spcPct val="20000"/>
              </a:spcBef>
            </a:pPr>
            <a:endParaRPr lang="pt-PT" sz="2000" dirty="0">
              <a:latin typeface="Arial" pitchFamily="34" charset="0"/>
              <a:cs typeface="Arial" pitchFamily="34" charset="0"/>
            </a:endParaRPr>
          </a:p>
          <a:p>
            <a:pPr lvl="0">
              <a:lnSpc>
                <a:spcPct val="200000"/>
              </a:lnSpc>
              <a:spcBef>
                <a:spcPct val="20000"/>
              </a:spcBef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457200" marR="0" lvl="1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457200" marR="0" lvl="1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54D42837-E70D-4C64-A8A7-E7F751502B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5" y="904241"/>
            <a:ext cx="9014192" cy="26648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81982921-1900-46B5-BE82-07BECCD639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20212"/>
            <a:ext cx="9144000" cy="253252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BE263CB9-5E3B-4385-9450-974CDF0F6C7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488336"/>
            <a:ext cx="545959" cy="199802"/>
          </a:xfrm>
          <a:prstGeom prst="rect">
            <a:avLst/>
          </a:prstGeom>
        </p:spPr>
      </p:pic>
      <p:sp>
        <p:nvSpPr>
          <p:cNvPr id="3" name="Rectângulo 19">
            <a:extLst>
              <a:ext uri="{FF2B5EF4-FFF2-40B4-BE49-F238E27FC236}">
                <a16:creationId xmlns:a16="http://schemas.microsoft.com/office/drawing/2014/main" id="{850208AF-C5A5-C009-177D-8C27BB5DCC8B}"/>
              </a:ext>
            </a:extLst>
          </p:cNvPr>
          <p:cNvSpPr/>
          <p:nvPr/>
        </p:nvSpPr>
        <p:spPr>
          <a:xfrm>
            <a:off x="5535613" y="553019"/>
            <a:ext cx="3505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PT" sz="1100" b="1" cap="all" dirty="0" err="1">
                <a:highlight>
                  <a:srgbClr val="FFFF00"/>
                </a:highlight>
              </a:rPr>
              <a:t>Degree</a:t>
            </a:r>
            <a:r>
              <a:rPr lang="pt-PT" sz="1100" b="1" cap="all" dirty="0">
                <a:highlight>
                  <a:srgbClr val="FFFF00"/>
                </a:highlight>
              </a:rPr>
              <a:t> IN </a:t>
            </a:r>
            <a:r>
              <a:rPr lang="pt-PT" sz="1100" b="1" cap="all" dirty="0" err="1">
                <a:highlight>
                  <a:srgbClr val="FFFF00"/>
                </a:highlight>
              </a:rPr>
              <a:t>Informatics</a:t>
            </a:r>
            <a:r>
              <a:rPr lang="pt-PT" sz="1100" b="1" cap="all" dirty="0">
                <a:highlight>
                  <a:srgbClr val="FFFF00"/>
                </a:highlight>
              </a:rPr>
              <a:t> </a:t>
            </a:r>
            <a:r>
              <a:rPr lang="pt-PT" sz="1100" b="1" cap="all" dirty="0" err="1">
                <a:highlight>
                  <a:srgbClr val="FFFF00"/>
                </a:highlight>
              </a:rPr>
              <a:t>engineering</a:t>
            </a:r>
            <a:endParaRPr lang="pt-PT" sz="1100" dirty="0">
              <a:highlight>
                <a:srgbClr val="FFFF00"/>
              </a:highlight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4B69841B-4743-42E9-837A-73B87FC5C8C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5316" y="9186"/>
            <a:ext cx="2575034" cy="639880"/>
          </a:xfrm>
          <a:prstGeom prst="rect">
            <a:avLst/>
          </a:prstGeom>
        </p:spPr>
      </p:pic>
      <p:sp>
        <p:nvSpPr>
          <p:cNvPr id="2" name="Subtítulo 2">
            <a:extLst>
              <a:ext uri="{FF2B5EF4-FFF2-40B4-BE49-F238E27FC236}">
                <a16:creationId xmlns:a16="http://schemas.microsoft.com/office/drawing/2014/main" id="{50369DE4-0D6E-7A10-AF37-333F300DD770}"/>
              </a:ext>
            </a:extLst>
          </p:cNvPr>
          <p:cNvSpPr txBox="1">
            <a:spLocks/>
          </p:cNvSpPr>
          <p:nvPr/>
        </p:nvSpPr>
        <p:spPr>
          <a:xfrm>
            <a:off x="836017" y="6524516"/>
            <a:ext cx="7698382" cy="162409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900" dirty="0">
                <a:latin typeface="Arial" charset="0"/>
                <a:ea typeface="Arial" charset="0"/>
                <a:cs typeface="Arial" charset="0"/>
              </a:rPr>
              <a:t>Francisco </a:t>
            </a:r>
            <a:r>
              <a:rPr lang="pt-PT" sz="900" dirty="0" smtClean="0">
                <a:latin typeface="Arial" charset="0"/>
                <a:ea typeface="Arial" charset="0"/>
                <a:cs typeface="Arial" charset="0"/>
              </a:rPr>
              <a:t>Matos, Paulo </a:t>
            </a:r>
            <a:r>
              <a:rPr lang="pt-PT" sz="900" dirty="0" err="1" smtClean="0">
                <a:latin typeface="Arial" charset="0"/>
                <a:ea typeface="Arial" charset="0"/>
                <a:cs typeface="Arial" charset="0"/>
              </a:rPr>
              <a:t>SImões</a:t>
            </a:r>
            <a:r>
              <a:rPr lang="pt-PT" sz="900" dirty="0" smtClean="0">
                <a:latin typeface="Arial" charset="0"/>
                <a:ea typeface="Arial" charset="0"/>
                <a:cs typeface="Arial" charset="0"/>
              </a:rPr>
              <a:t> </a:t>
            </a:r>
            <a:r>
              <a:rPr lang="pt-PT" sz="900" dirty="0">
                <a:latin typeface="Arial" charset="0"/>
                <a:ea typeface="Arial" charset="0"/>
                <a:cs typeface="Arial" charset="0"/>
              </a:rPr>
              <a:t>| </a:t>
            </a:r>
            <a:r>
              <a:rPr lang="pt-PT" sz="900" b="1" dirty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Unidade Curricular: </a:t>
            </a:r>
            <a:r>
              <a:rPr lang="pt-PT" sz="900" b="1" dirty="0" smtClean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AOOP </a:t>
            </a:r>
            <a:r>
              <a:rPr lang="pt-PT" sz="900" dirty="0">
                <a:latin typeface="Arial" charset="0"/>
                <a:ea typeface="Arial" charset="0"/>
                <a:cs typeface="Arial" charset="0"/>
              </a:rPr>
              <a:t>– Ano Letivo 2025/2026 – </a:t>
            </a:r>
            <a:r>
              <a:rPr lang="pt-PT" sz="900" b="1" dirty="0" smtClean="0">
                <a:latin typeface="Arial" charset="0"/>
                <a:ea typeface="Arial" charset="0"/>
                <a:cs typeface="Arial" charset="0"/>
              </a:rPr>
              <a:t>AR Face </a:t>
            </a:r>
            <a:r>
              <a:rPr lang="pt-PT" sz="900" b="1" dirty="0" err="1" smtClean="0">
                <a:latin typeface="Arial" charset="0"/>
                <a:ea typeface="Arial" charset="0"/>
                <a:cs typeface="Arial" charset="0"/>
              </a:rPr>
              <a:t>Filters</a:t>
            </a:r>
            <a:endParaRPr lang="pt-PT" sz="900" b="1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10" name="AutoShape 7" descr="JavaScript | Coding Help Wiki | Fandom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PT"/>
          </a:p>
        </p:txBody>
      </p:sp>
      <p:sp>
        <p:nvSpPr>
          <p:cNvPr id="6" name="Retângulo 5"/>
          <p:cNvSpPr/>
          <p:nvPr/>
        </p:nvSpPr>
        <p:spPr>
          <a:xfrm>
            <a:off x="250825" y="1212438"/>
            <a:ext cx="4572000" cy="4939814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pt-PT" sz="1400" b="1" dirty="0">
                <a:latin typeface="Arial" panose="020B0604020202020204" pitchFamily="34" charset="0"/>
                <a:cs typeface="Arial" panose="020B0604020202020204" pitchFamily="34" charset="0"/>
              </a:rPr>
              <a:t>Limitações conhecidas</a:t>
            </a:r>
            <a:r>
              <a:rPr lang="pt-PT" sz="1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>
              <a:lnSpc>
                <a:spcPct val="150000"/>
              </a:lnSpc>
            </a:pPr>
            <a:endParaRPr lang="pt-PT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 A </a:t>
            </a:r>
            <a:r>
              <a:rPr lang="pt-PT" sz="1400" dirty="0">
                <a:latin typeface="Arial" panose="020B0604020202020204" pitchFamily="34" charset="0"/>
                <a:cs typeface="Arial" panose="020B0604020202020204" pitchFamily="34" charset="0"/>
              </a:rPr>
              <a:t>aplicação foi pensada para um rosto de cada vez</a:t>
            </a:r>
            <a:r>
              <a:rPr lang="pt-PT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>
              <a:lnSpc>
                <a:spcPct val="150000"/>
              </a:lnSpc>
            </a:pPr>
            <a:endParaRPr lang="pt-PT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 Os </a:t>
            </a:r>
            <a:r>
              <a:rPr lang="pt-PT" sz="1400" dirty="0">
                <a:latin typeface="Arial" panose="020B0604020202020204" pitchFamily="34" charset="0"/>
                <a:cs typeface="Arial" panose="020B0604020202020204" pitchFamily="34" charset="0"/>
              </a:rPr>
              <a:t>filtros 3D dependem da orientação dos modelos usados</a:t>
            </a:r>
            <a:r>
              <a:rPr lang="pt-PT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>
              <a:lnSpc>
                <a:spcPct val="150000"/>
              </a:lnSpc>
            </a:pPr>
            <a:endParaRPr lang="pt-PT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 Em </a:t>
            </a:r>
            <a:r>
              <a:rPr lang="pt-PT" sz="1400" dirty="0">
                <a:latin typeface="Arial" panose="020B0604020202020204" pitchFamily="34" charset="0"/>
                <a:cs typeface="Arial" panose="020B0604020202020204" pitchFamily="34" charset="0"/>
              </a:rPr>
              <a:t>rotações muito fortes da cabeça, o alinhamento pode não ser perfeito</a:t>
            </a:r>
            <a:r>
              <a:rPr lang="pt-PT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>
              <a:lnSpc>
                <a:spcPct val="150000"/>
              </a:lnSpc>
            </a:pPr>
            <a:endParaRPr lang="pt-PT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 A </a:t>
            </a:r>
            <a:r>
              <a:rPr lang="pt-PT" sz="1400" dirty="0">
                <a:latin typeface="Arial" panose="020B0604020202020204" pitchFamily="34" charset="0"/>
                <a:cs typeface="Arial" panose="020B0604020202020204" pitchFamily="34" charset="0"/>
              </a:rPr>
              <a:t>qualidade da webcam e da iluminação influencia a deteção facial</a:t>
            </a:r>
            <a:r>
              <a:rPr lang="pt-PT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>
              <a:lnSpc>
                <a:spcPct val="150000"/>
              </a:lnSpc>
            </a:pPr>
            <a:endParaRPr lang="pt-PT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 Não </a:t>
            </a:r>
            <a:r>
              <a:rPr lang="pt-PT" sz="1400" dirty="0">
                <a:latin typeface="Arial" panose="020B0604020202020204" pitchFamily="34" charset="0"/>
                <a:cs typeface="Arial" panose="020B0604020202020204" pitchFamily="34" charset="0"/>
              </a:rPr>
              <a:t>existe oclusão facial real entre a face e os modelos 3D.</a:t>
            </a:r>
          </a:p>
        </p:txBody>
      </p:sp>
      <p:pic>
        <p:nvPicPr>
          <p:cNvPr id="2050" name="Picture 2" descr="Principais fontes de limitações na tomada de decisão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76087" y="2373665"/>
            <a:ext cx="2732823" cy="2173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582717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Text Box 10"/>
          <p:cNvSpPr txBox="1">
            <a:spLocks noChangeArrowheads="1"/>
          </p:cNvSpPr>
          <p:nvPr/>
        </p:nvSpPr>
        <p:spPr bwMode="auto">
          <a:xfrm>
            <a:off x="8288338" y="6296025"/>
            <a:ext cx="8270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pt-PT"/>
          </a:p>
        </p:txBody>
      </p:sp>
      <p:sp>
        <p:nvSpPr>
          <p:cNvPr id="10244" name="Rectangle 11"/>
          <p:cNvSpPr>
            <a:spLocks noChangeArrowheads="1"/>
          </p:cNvSpPr>
          <p:nvPr/>
        </p:nvSpPr>
        <p:spPr bwMode="auto">
          <a:xfrm>
            <a:off x="8327571" y="6496091"/>
            <a:ext cx="9366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pt-PT" sz="1000" dirty="0"/>
              <a:t>- </a:t>
            </a:r>
            <a:fld id="{1234D2FF-8FB9-47A1-B8C9-42A5F500BA2F}" type="slidenum">
              <a:rPr lang="pt-PT" sz="1000"/>
              <a:pPr algn="ctr"/>
              <a:t>13</a:t>
            </a:fld>
            <a:r>
              <a:rPr lang="pt-PT" sz="1000" dirty="0"/>
              <a:t> -</a:t>
            </a:r>
          </a:p>
        </p:txBody>
      </p:sp>
      <p:sp>
        <p:nvSpPr>
          <p:cNvPr id="9229" name="Text Box 13"/>
          <p:cNvSpPr txBox="1">
            <a:spLocks noChangeArrowheads="1"/>
          </p:cNvSpPr>
          <p:nvPr/>
        </p:nvSpPr>
        <p:spPr bwMode="auto">
          <a:xfrm>
            <a:off x="306388" y="557213"/>
            <a:ext cx="698182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■</a:t>
            </a:r>
            <a:r>
              <a:rPr lang="pt-PT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</a:t>
            </a:r>
            <a:r>
              <a:rPr lang="pt-PT" sz="2000" b="1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Melhorias futuras</a:t>
            </a:r>
            <a:endParaRPr lang="pt-PT" sz="2000" b="1" dirty="0"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10247" name="Line 15"/>
          <p:cNvSpPr>
            <a:spLocks noChangeShapeType="1"/>
          </p:cNvSpPr>
          <p:nvPr/>
        </p:nvSpPr>
        <p:spPr bwMode="auto">
          <a:xfrm>
            <a:off x="250825" y="0"/>
            <a:ext cx="0" cy="765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PT"/>
          </a:p>
        </p:txBody>
      </p:sp>
      <p:sp>
        <p:nvSpPr>
          <p:cNvPr id="9237" name="Text Box 21"/>
          <p:cNvSpPr txBox="1">
            <a:spLocks noChangeArrowheads="1"/>
          </p:cNvSpPr>
          <p:nvPr/>
        </p:nvSpPr>
        <p:spPr bwMode="auto">
          <a:xfrm>
            <a:off x="381001" y="44450"/>
            <a:ext cx="6138752" cy="5309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1200" b="1" dirty="0" smtClean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AOOP </a:t>
            </a: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– </a:t>
            </a:r>
            <a:r>
              <a:rPr lang="pt-PT" sz="1200" b="1" dirty="0" smtClean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AR Face </a:t>
            </a:r>
            <a:r>
              <a:rPr lang="pt-PT" sz="1200" b="1" dirty="0" err="1" smtClean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Filters</a:t>
            </a:r>
            <a:endParaRPr lang="pt-PT" sz="1200" b="1" dirty="0" smtClean="0">
              <a:solidFill>
                <a:srgbClr val="FF33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  <a:p>
            <a:pPr>
              <a:spcBef>
                <a:spcPct val="50000"/>
              </a:spcBef>
              <a:defRPr/>
            </a:pPr>
            <a:r>
              <a:rPr lang="pt-PT" sz="1100" b="1" dirty="0" smtClean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Aplicação web de filtros faciais em tempo real</a:t>
            </a:r>
            <a:endParaRPr lang="pt-PT" sz="1100" b="1" dirty="0">
              <a:solidFill>
                <a:srgbClr val="FF33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19" name="Marcador de Posição de Conteúdo 2"/>
          <p:cNvSpPr txBox="1">
            <a:spLocks/>
          </p:cNvSpPr>
          <p:nvPr/>
        </p:nvSpPr>
        <p:spPr>
          <a:xfrm>
            <a:off x="457200" y="1219200"/>
            <a:ext cx="8229600" cy="49377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200000"/>
              </a:lnSpc>
              <a:spcBef>
                <a:spcPct val="20000"/>
              </a:spcBef>
            </a:pPr>
            <a:endParaRPr lang="pt-PT" sz="2000" dirty="0">
              <a:latin typeface="Arial" pitchFamily="34" charset="0"/>
              <a:cs typeface="Arial" pitchFamily="34" charset="0"/>
            </a:endParaRPr>
          </a:p>
          <a:p>
            <a:pPr lvl="0">
              <a:lnSpc>
                <a:spcPct val="200000"/>
              </a:lnSpc>
              <a:spcBef>
                <a:spcPct val="20000"/>
              </a:spcBef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457200" marR="0" lvl="1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457200" marR="0" lvl="1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54D42837-E70D-4C64-A8A7-E7F751502B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5" y="904241"/>
            <a:ext cx="9014192" cy="26648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81982921-1900-46B5-BE82-07BECCD639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20212"/>
            <a:ext cx="9144000" cy="253252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BE263CB9-5E3B-4385-9450-974CDF0F6C7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488336"/>
            <a:ext cx="545959" cy="199802"/>
          </a:xfrm>
          <a:prstGeom prst="rect">
            <a:avLst/>
          </a:prstGeom>
        </p:spPr>
      </p:pic>
      <p:sp>
        <p:nvSpPr>
          <p:cNvPr id="3" name="Rectângulo 19">
            <a:extLst>
              <a:ext uri="{FF2B5EF4-FFF2-40B4-BE49-F238E27FC236}">
                <a16:creationId xmlns:a16="http://schemas.microsoft.com/office/drawing/2014/main" id="{850208AF-C5A5-C009-177D-8C27BB5DCC8B}"/>
              </a:ext>
            </a:extLst>
          </p:cNvPr>
          <p:cNvSpPr/>
          <p:nvPr/>
        </p:nvSpPr>
        <p:spPr>
          <a:xfrm>
            <a:off x="5535613" y="553019"/>
            <a:ext cx="3505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PT" sz="1100" b="1" cap="all" dirty="0" err="1">
                <a:highlight>
                  <a:srgbClr val="FFFF00"/>
                </a:highlight>
              </a:rPr>
              <a:t>Degree</a:t>
            </a:r>
            <a:r>
              <a:rPr lang="pt-PT" sz="1100" b="1" cap="all" dirty="0">
                <a:highlight>
                  <a:srgbClr val="FFFF00"/>
                </a:highlight>
              </a:rPr>
              <a:t> IN </a:t>
            </a:r>
            <a:r>
              <a:rPr lang="pt-PT" sz="1100" b="1" cap="all" dirty="0" err="1">
                <a:highlight>
                  <a:srgbClr val="FFFF00"/>
                </a:highlight>
              </a:rPr>
              <a:t>Informatics</a:t>
            </a:r>
            <a:r>
              <a:rPr lang="pt-PT" sz="1100" b="1" cap="all" dirty="0">
                <a:highlight>
                  <a:srgbClr val="FFFF00"/>
                </a:highlight>
              </a:rPr>
              <a:t> </a:t>
            </a:r>
            <a:r>
              <a:rPr lang="pt-PT" sz="1100" b="1" cap="all" dirty="0" err="1">
                <a:highlight>
                  <a:srgbClr val="FFFF00"/>
                </a:highlight>
              </a:rPr>
              <a:t>engineering</a:t>
            </a:r>
            <a:endParaRPr lang="pt-PT" sz="1100" dirty="0">
              <a:highlight>
                <a:srgbClr val="FFFF00"/>
              </a:highlight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4B69841B-4743-42E9-837A-73B87FC5C8C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5316" y="9186"/>
            <a:ext cx="2575034" cy="639880"/>
          </a:xfrm>
          <a:prstGeom prst="rect">
            <a:avLst/>
          </a:prstGeom>
        </p:spPr>
      </p:pic>
      <p:sp>
        <p:nvSpPr>
          <p:cNvPr id="2" name="Subtítulo 2">
            <a:extLst>
              <a:ext uri="{FF2B5EF4-FFF2-40B4-BE49-F238E27FC236}">
                <a16:creationId xmlns:a16="http://schemas.microsoft.com/office/drawing/2014/main" id="{50369DE4-0D6E-7A10-AF37-333F300DD770}"/>
              </a:ext>
            </a:extLst>
          </p:cNvPr>
          <p:cNvSpPr txBox="1">
            <a:spLocks/>
          </p:cNvSpPr>
          <p:nvPr/>
        </p:nvSpPr>
        <p:spPr>
          <a:xfrm>
            <a:off x="836017" y="6524516"/>
            <a:ext cx="7698382" cy="162409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900" dirty="0">
                <a:latin typeface="Arial" charset="0"/>
                <a:ea typeface="Arial" charset="0"/>
                <a:cs typeface="Arial" charset="0"/>
              </a:rPr>
              <a:t>Francisco </a:t>
            </a:r>
            <a:r>
              <a:rPr lang="pt-PT" sz="900" dirty="0" smtClean="0">
                <a:latin typeface="Arial" charset="0"/>
                <a:ea typeface="Arial" charset="0"/>
                <a:cs typeface="Arial" charset="0"/>
              </a:rPr>
              <a:t>Matos, Paulo </a:t>
            </a:r>
            <a:r>
              <a:rPr lang="pt-PT" sz="900" dirty="0" err="1" smtClean="0">
                <a:latin typeface="Arial" charset="0"/>
                <a:ea typeface="Arial" charset="0"/>
                <a:cs typeface="Arial" charset="0"/>
              </a:rPr>
              <a:t>SImões</a:t>
            </a:r>
            <a:r>
              <a:rPr lang="pt-PT" sz="900" dirty="0" smtClean="0">
                <a:latin typeface="Arial" charset="0"/>
                <a:ea typeface="Arial" charset="0"/>
                <a:cs typeface="Arial" charset="0"/>
              </a:rPr>
              <a:t> </a:t>
            </a:r>
            <a:r>
              <a:rPr lang="pt-PT" sz="900" dirty="0">
                <a:latin typeface="Arial" charset="0"/>
                <a:ea typeface="Arial" charset="0"/>
                <a:cs typeface="Arial" charset="0"/>
              </a:rPr>
              <a:t>| </a:t>
            </a:r>
            <a:r>
              <a:rPr lang="pt-PT" sz="900" b="1" dirty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Unidade Curricular: </a:t>
            </a:r>
            <a:r>
              <a:rPr lang="pt-PT" sz="900" b="1" dirty="0" smtClean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AOOP </a:t>
            </a:r>
            <a:r>
              <a:rPr lang="pt-PT" sz="900" dirty="0">
                <a:latin typeface="Arial" charset="0"/>
                <a:ea typeface="Arial" charset="0"/>
                <a:cs typeface="Arial" charset="0"/>
              </a:rPr>
              <a:t>– Ano Letivo 2025/2026 – </a:t>
            </a:r>
            <a:r>
              <a:rPr lang="pt-PT" sz="900" b="1" dirty="0" smtClean="0">
                <a:latin typeface="Arial" charset="0"/>
                <a:ea typeface="Arial" charset="0"/>
                <a:cs typeface="Arial" charset="0"/>
              </a:rPr>
              <a:t>AR Face </a:t>
            </a:r>
            <a:r>
              <a:rPr lang="pt-PT" sz="900" b="1" dirty="0" err="1" smtClean="0">
                <a:latin typeface="Arial" charset="0"/>
                <a:ea typeface="Arial" charset="0"/>
                <a:cs typeface="Arial" charset="0"/>
              </a:rPr>
              <a:t>Filters</a:t>
            </a:r>
            <a:endParaRPr lang="pt-PT" sz="900" b="1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10" name="AutoShape 7" descr="JavaScript | Coding Help Wiki | Fandom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PT"/>
          </a:p>
        </p:txBody>
      </p:sp>
      <p:sp>
        <p:nvSpPr>
          <p:cNvPr id="4" name="Retângulo 3"/>
          <p:cNvSpPr/>
          <p:nvPr/>
        </p:nvSpPr>
        <p:spPr>
          <a:xfrm>
            <a:off x="178902" y="1326233"/>
            <a:ext cx="4572000" cy="425353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pt-PT" sz="1400" b="1" dirty="0">
                <a:latin typeface="Arial" panose="020B0604020202020204" pitchFamily="34" charset="0"/>
                <a:cs typeface="Arial" panose="020B0604020202020204" pitchFamily="34" charset="0"/>
              </a:rPr>
              <a:t>Possíveis melhorias</a:t>
            </a:r>
            <a:r>
              <a:rPr lang="pt-PT" sz="1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>
              <a:lnSpc>
                <a:spcPct val="150000"/>
              </a:lnSpc>
            </a:pPr>
            <a:endParaRPr lang="pt-PT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 Usar </a:t>
            </a:r>
            <a:r>
              <a:rPr lang="pt-PT" sz="1400" dirty="0">
                <a:latin typeface="Arial" panose="020B0604020202020204" pitchFamily="34" charset="0"/>
                <a:cs typeface="Arial" panose="020B0604020202020204" pitchFamily="34" charset="0"/>
              </a:rPr>
              <a:t>diretamente a matriz 3D do </a:t>
            </a:r>
            <a:r>
              <a:rPr lang="pt-PT" sz="1400" dirty="0" err="1">
                <a:latin typeface="Arial" panose="020B0604020202020204" pitchFamily="34" charset="0"/>
                <a:cs typeface="Arial" panose="020B0604020202020204" pitchFamily="34" charset="0"/>
              </a:rPr>
              <a:t>MediaPipe</a:t>
            </a:r>
            <a:r>
              <a:rPr lang="pt-PT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>
              <a:lnSpc>
                <a:spcPct val="150000"/>
              </a:lnSpc>
            </a:pPr>
            <a:endParaRPr lang="pt-PT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 Melhorar </a:t>
            </a:r>
            <a:r>
              <a:rPr lang="pt-PT" sz="1400" dirty="0">
                <a:latin typeface="Arial" panose="020B0604020202020204" pitchFamily="34" charset="0"/>
                <a:cs typeface="Arial" panose="020B0604020202020204" pitchFamily="34" charset="0"/>
              </a:rPr>
              <a:t>oclusão facial com uma face </a:t>
            </a:r>
            <a:r>
              <a:rPr lang="pt-PT" sz="1400" dirty="0" err="1">
                <a:latin typeface="Arial" panose="020B0604020202020204" pitchFamily="34" charset="0"/>
                <a:cs typeface="Arial" panose="020B0604020202020204" pitchFamily="34" charset="0"/>
              </a:rPr>
              <a:t>mesh</a:t>
            </a:r>
            <a:r>
              <a:rPr lang="pt-PT" sz="1400" dirty="0">
                <a:latin typeface="Arial" panose="020B0604020202020204" pitchFamily="34" charset="0"/>
                <a:cs typeface="Arial" panose="020B0604020202020204" pitchFamily="34" charset="0"/>
              </a:rPr>
              <a:t> invisível</a:t>
            </a:r>
            <a:r>
              <a:rPr lang="pt-PT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>
              <a:lnSpc>
                <a:spcPct val="150000"/>
              </a:lnSpc>
            </a:pPr>
            <a:endParaRPr lang="pt-PT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 Suportar </a:t>
            </a:r>
            <a:r>
              <a:rPr lang="pt-PT" sz="1400" dirty="0">
                <a:latin typeface="Arial" panose="020B0604020202020204" pitchFamily="34" charset="0"/>
                <a:cs typeface="Arial" panose="020B0604020202020204" pitchFamily="34" charset="0"/>
              </a:rPr>
              <a:t>múltiplas faces</a:t>
            </a:r>
            <a:r>
              <a:rPr lang="pt-PT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>
              <a:lnSpc>
                <a:spcPct val="150000"/>
              </a:lnSpc>
            </a:pPr>
            <a:endParaRPr lang="pt-PT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 Adicionar </a:t>
            </a:r>
            <a:r>
              <a:rPr lang="pt-PT" sz="1400" dirty="0">
                <a:latin typeface="Arial" panose="020B0604020202020204" pitchFamily="34" charset="0"/>
                <a:cs typeface="Arial" panose="020B0604020202020204" pitchFamily="34" charset="0"/>
              </a:rPr>
              <a:t>mais modelos 3D</a:t>
            </a:r>
            <a:r>
              <a:rPr lang="pt-PT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>
              <a:lnSpc>
                <a:spcPct val="150000"/>
              </a:lnSpc>
            </a:pPr>
            <a:endParaRPr lang="pt-PT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 Criar </a:t>
            </a:r>
            <a:r>
              <a:rPr lang="pt-PT" sz="1400" dirty="0">
                <a:latin typeface="Arial" panose="020B0604020202020204" pitchFamily="34" charset="0"/>
                <a:cs typeface="Arial" panose="020B0604020202020204" pitchFamily="34" charset="0"/>
              </a:rPr>
              <a:t>editor de filtros personalizados</a:t>
            </a:r>
            <a:r>
              <a:rPr lang="pt-PT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>
              <a:lnSpc>
                <a:spcPct val="150000"/>
              </a:lnSpc>
            </a:pPr>
            <a:endParaRPr lang="pt-PT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 Melhorar </a:t>
            </a:r>
            <a:r>
              <a:rPr lang="pt-PT" sz="1400" dirty="0">
                <a:latin typeface="Arial" panose="020B0604020202020204" pitchFamily="34" charset="0"/>
                <a:cs typeface="Arial" panose="020B0604020202020204" pitchFamily="34" charset="0"/>
              </a:rPr>
              <a:t>adaptação para dispositivos móveis.</a:t>
            </a:r>
          </a:p>
        </p:txBody>
      </p:sp>
      <p:pic>
        <p:nvPicPr>
          <p:cNvPr id="11266" name="Picture 2" descr="O desenho do processo futuro (TO BE) não tem apenas que melhorar o  processo, tem que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18678" y="3083470"/>
            <a:ext cx="3794125" cy="20570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977761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Text Box 10"/>
          <p:cNvSpPr txBox="1">
            <a:spLocks noChangeArrowheads="1"/>
          </p:cNvSpPr>
          <p:nvPr/>
        </p:nvSpPr>
        <p:spPr bwMode="auto">
          <a:xfrm>
            <a:off x="8288338" y="6296025"/>
            <a:ext cx="8270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pt-PT"/>
          </a:p>
        </p:txBody>
      </p:sp>
      <p:sp>
        <p:nvSpPr>
          <p:cNvPr id="10244" name="Rectangle 11"/>
          <p:cNvSpPr>
            <a:spLocks noChangeArrowheads="1"/>
          </p:cNvSpPr>
          <p:nvPr/>
        </p:nvSpPr>
        <p:spPr bwMode="auto">
          <a:xfrm>
            <a:off x="8327571" y="6496091"/>
            <a:ext cx="9366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pt-PT" sz="1000" dirty="0"/>
              <a:t>- </a:t>
            </a:r>
            <a:fld id="{1234D2FF-8FB9-47A1-B8C9-42A5F500BA2F}" type="slidenum">
              <a:rPr lang="pt-PT" sz="1000"/>
              <a:pPr algn="ctr"/>
              <a:t>14</a:t>
            </a:fld>
            <a:r>
              <a:rPr lang="pt-PT" sz="1000" dirty="0"/>
              <a:t> -</a:t>
            </a:r>
          </a:p>
        </p:txBody>
      </p:sp>
      <p:sp>
        <p:nvSpPr>
          <p:cNvPr id="9229" name="Text Box 13"/>
          <p:cNvSpPr txBox="1">
            <a:spLocks noChangeArrowheads="1"/>
          </p:cNvSpPr>
          <p:nvPr/>
        </p:nvSpPr>
        <p:spPr bwMode="auto">
          <a:xfrm>
            <a:off x="306388" y="557213"/>
            <a:ext cx="698182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■</a:t>
            </a:r>
            <a:r>
              <a:rPr lang="pt-PT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</a:t>
            </a:r>
            <a:r>
              <a:rPr lang="pt-PT" sz="2000" b="1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Conclusão</a:t>
            </a:r>
            <a:endParaRPr lang="pt-PT" sz="2000" b="1" dirty="0"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10247" name="Line 15"/>
          <p:cNvSpPr>
            <a:spLocks noChangeShapeType="1"/>
          </p:cNvSpPr>
          <p:nvPr/>
        </p:nvSpPr>
        <p:spPr bwMode="auto">
          <a:xfrm>
            <a:off x="250825" y="0"/>
            <a:ext cx="0" cy="765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PT"/>
          </a:p>
        </p:txBody>
      </p:sp>
      <p:sp>
        <p:nvSpPr>
          <p:cNvPr id="9237" name="Text Box 21"/>
          <p:cNvSpPr txBox="1">
            <a:spLocks noChangeArrowheads="1"/>
          </p:cNvSpPr>
          <p:nvPr/>
        </p:nvSpPr>
        <p:spPr bwMode="auto">
          <a:xfrm>
            <a:off x="381001" y="44450"/>
            <a:ext cx="6138752" cy="5309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1200" b="1" dirty="0" smtClean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AOOP </a:t>
            </a:r>
            <a:r>
              <a:rPr lang="pt-PT" sz="12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– </a:t>
            </a:r>
            <a:r>
              <a:rPr lang="pt-PT" sz="1200" b="1" dirty="0" smtClean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AR Face </a:t>
            </a:r>
            <a:r>
              <a:rPr lang="pt-PT" sz="1200" b="1" dirty="0" err="1" smtClean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Filters</a:t>
            </a:r>
            <a:endParaRPr lang="pt-PT" sz="1200" b="1" dirty="0" smtClean="0">
              <a:solidFill>
                <a:srgbClr val="FF33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  <a:p>
            <a:pPr>
              <a:spcBef>
                <a:spcPct val="50000"/>
              </a:spcBef>
              <a:defRPr/>
            </a:pPr>
            <a:r>
              <a:rPr lang="pt-PT" sz="1100" b="1" dirty="0" smtClean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Aplicação web de filtros faciais em tempo real</a:t>
            </a:r>
            <a:endParaRPr lang="pt-PT" sz="1100" b="1" dirty="0">
              <a:solidFill>
                <a:srgbClr val="FF33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19" name="Marcador de Posição de Conteúdo 2"/>
          <p:cNvSpPr txBox="1">
            <a:spLocks/>
          </p:cNvSpPr>
          <p:nvPr/>
        </p:nvSpPr>
        <p:spPr>
          <a:xfrm>
            <a:off x="457200" y="1219200"/>
            <a:ext cx="8229600" cy="49377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200000"/>
              </a:lnSpc>
              <a:spcBef>
                <a:spcPct val="20000"/>
              </a:spcBef>
            </a:pPr>
            <a:endParaRPr lang="pt-PT" sz="2000" dirty="0">
              <a:latin typeface="Arial" pitchFamily="34" charset="0"/>
              <a:cs typeface="Arial" pitchFamily="34" charset="0"/>
            </a:endParaRPr>
          </a:p>
          <a:p>
            <a:pPr lvl="0">
              <a:lnSpc>
                <a:spcPct val="200000"/>
              </a:lnSpc>
              <a:spcBef>
                <a:spcPct val="20000"/>
              </a:spcBef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457200" marR="0" lvl="1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457200" marR="0" lvl="1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54D42837-E70D-4C64-A8A7-E7F751502B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5" y="904241"/>
            <a:ext cx="9014192" cy="26648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81982921-1900-46B5-BE82-07BECCD639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20212"/>
            <a:ext cx="9144000" cy="253252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BE263CB9-5E3B-4385-9450-974CDF0F6C7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488336"/>
            <a:ext cx="545959" cy="199802"/>
          </a:xfrm>
          <a:prstGeom prst="rect">
            <a:avLst/>
          </a:prstGeom>
        </p:spPr>
      </p:pic>
      <p:sp>
        <p:nvSpPr>
          <p:cNvPr id="3" name="Rectângulo 19">
            <a:extLst>
              <a:ext uri="{FF2B5EF4-FFF2-40B4-BE49-F238E27FC236}">
                <a16:creationId xmlns:a16="http://schemas.microsoft.com/office/drawing/2014/main" id="{850208AF-C5A5-C009-177D-8C27BB5DCC8B}"/>
              </a:ext>
            </a:extLst>
          </p:cNvPr>
          <p:cNvSpPr/>
          <p:nvPr/>
        </p:nvSpPr>
        <p:spPr>
          <a:xfrm>
            <a:off x="5535613" y="553019"/>
            <a:ext cx="3505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PT" sz="1100" b="1" cap="all" dirty="0" err="1">
                <a:highlight>
                  <a:srgbClr val="FFFF00"/>
                </a:highlight>
              </a:rPr>
              <a:t>Degree</a:t>
            </a:r>
            <a:r>
              <a:rPr lang="pt-PT" sz="1100" b="1" cap="all" dirty="0">
                <a:highlight>
                  <a:srgbClr val="FFFF00"/>
                </a:highlight>
              </a:rPr>
              <a:t> IN </a:t>
            </a:r>
            <a:r>
              <a:rPr lang="pt-PT" sz="1100" b="1" cap="all" dirty="0" err="1">
                <a:highlight>
                  <a:srgbClr val="FFFF00"/>
                </a:highlight>
              </a:rPr>
              <a:t>Informatics</a:t>
            </a:r>
            <a:r>
              <a:rPr lang="pt-PT" sz="1100" b="1" cap="all" dirty="0">
                <a:highlight>
                  <a:srgbClr val="FFFF00"/>
                </a:highlight>
              </a:rPr>
              <a:t> </a:t>
            </a:r>
            <a:r>
              <a:rPr lang="pt-PT" sz="1100" b="1" cap="all" dirty="0" err="1">
                <a:highlight>
                  <a:srgbClr val="FFFF00"/>
                </a:highlight>
              </a:rPr>
              <a:t>engineering</a:t>
            </a:r>
            <a:endParaRPr lang="pt-PT" sz="1100" dirty="0">
              <a:highlight>
                <a:srgbClr val="FFFF00"/>
              </a:highlight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4B69841B-4743-42E9-837A-73B87FC5C8C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5316" y="9186"/>
            <a:ext cx="2575034" cy="639880"/>
          </a:xfrm>
          <a:prstGeom prst="rect">
            <a:avLst/>
          </a:prstGeom>
        </p:spPr>
      </p:pic>
      <p:sp>
        <p:nvSpPr>
          <p:cNvPr id="2" name="Subtítulo 2">
            <a:extLst>
              <a:ext uri="{FF2B5EF4-FFF2-40B4-BE49-F238E27FC236}">
                <a16:creationId xmlns:a16="http://schemas.microsoft.com/office/drawing/2014/main" id="{50369DE4-0D6E-7A10-AF37-333F300DD770}"/>
              </a:ext>
            </a:extLst>
          </p:cNvPr>
          <p:cNvSpPr txBox="1">
            <a:spLocks/>
          </p:cNvSpPr>
          <p:nvPr/>
        </p:nvSpPr>
        <p:spPr>
          <a:xfrm>
            <a:off x="836017" y="6524516"/>
            <a:ext cx="7698382" cy="162409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900" dirty="0">
                <a:latin typeface="Arial" charset="0"/>
                <a:ea typeface="Arial" charset="0"/>
                <a:cs typeface="Arial" charset="0"/>
              </a:rPr>
              <a:t>Francisco </a:t>
            </a:r>
            <a:r>
              <a:rPr lang="pt-PT" sz="900" dirty="0" smtClean="0">
                <a:latin typeface="Arial" charset="0"/>
                <a:ea typeface="Arial" charset="0"/>
                <a:cs typeface="Arial" charset="0"/>
              </a:rPr>
              <a:t>Matos, Paulo </a:t>
            </a:r>
            <a:r>
              <a:rPr lang="pt-PT" sz="900" dirty="0" err="1" smtClean="0">
                <a:latin typeface="Arial" charset="0"/>
                <a:ea typeface="Arial" charset="0"/>
                <a:cs typeface="Arial" charset="0"/>
              </a:rPr>
              <a:t>SImões</a:t>
            </a:r>
            <a:r>
              <a:rPr lang="pt-PT" sz="900" dirty="0" smtClean="0">
                <a:latin typeface="Arial" charset="0"/>
                <a:ea typeface="Arial" charset="0"/>
                <a:cs typeface="Arial" charset="0"/>
              </a:rPr>
              <a:t> </a:t>
            </a:r>
            <a:r>
              <a:rPr lang="pt-PT" sz="900" dirty="0">
                <a:latin typeface="Arial" charset="0"/>
                <a:ea typeface="Arial" charset="0"/>
                <a:cs typeface="Arial" charset="0"/>
              </a:rPr>
              <a:t>| </a:t>
            </a:r>
            <a:r>
              <a:rPr lang="pt-PT" sz="900" b="1" dirty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Unidade Curricular: </a:t>
            </a:r>
            <a:r>
              <a:rPr lang="pt-PT" sz="900" b="1" dirty="0" smtClean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AOOP </a:t>
            </a:r>
            <a:r>
              <a:rPr lang="pt-PT" sz="900" dirty="0">
                <a:latin typeface="Arial" charset="0"/>
                <a:ea typeface="Arial" charset="0"/>
                <a:cs typeface="Arial" charset="0"/>
              </a:rPr>
              <a:t>– Ano Letivo 2025/2026 – </a:t>
            </a:r>
            <a:r>
              <a:rPr lang="pt-PT" sz="900" b="1" dirty="0" smtClean="0">
                <a:latin typeface="Arial" charset="0"/>
                <a:ea typeface="Arial" charset="0"/>
                <a:cs typeface="Arial" charset="0"/>
              </a:rPr>
              <a:t>AR Face </a:t>
            </a:r>
            <a:r>
              <a:rPr lang="pt-PT" sz="900" b="1" dirty="0" err="1" smtClean="0">
                <a:latin typeface="Arial" charset="0"/>
                <a:ea typeface="Arial" charset="0"/>
                <a:cs typeface="Arial" charset="0"/>
              </a:rPr>
              <a:t>Filters</a:t>
            </a:r>
            <a:endParaRPr lang="pt-PT" sz="900" b="1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10" name="AutoShape 7" descr="JavaScript | Coding Help Wiki | Fandom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PT"/>
          </a:p>
        </p:txBody>
      </p:sp>
      <p:sp>
        <p:nvSpPr>
          <p:cNvPr id="6" name="CaixaDeTexto 5"/>
          <p:cNvSpPr txBox="1"/>
          <p:nvPr/>
        </p:nvSpPr>
        <p:spPr>
          <a:xfrm>
            <a:off x="250825" y="1219200"/>
            <a:ext cx="8588375" cy="44319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PT" sz="1600" dirty="0">
                <a:latin typeface="Arial" panose="020B0604020202020204" pitchFamily="34" charset="0"/>
                <a:cs typeface="Arial" panose="020B0604020202020204" pitchFamily="34" charset="0"/>
              </a:rPr>
              <a:t>Com este projeto foi possível desenvolver uma aplicação funcional de realidade aumentada no browser, capaz de detetar a face do utilizador e aplicar filtros visuais em tempo real. A aplicação integra diferentes tipos de filtros, incluindo elementos 2D, modelos 3D e efeitos desenhados em </a:t>
            </a:r>
            <a:r>
              <a:rPr lang="pt-PT" sz="1600" dirty="0" err="1">
                <a:latin typeface="Arial" panose="020B0604020202020204" pitchFamily="34" charset="0"/>
                <a:cs typeface="Arial" panose="020B0604020202020204" pitchFamily="34" charset="0"/>
              </a:rPr>
              <a:t>canvas</a:t>
            </a:r>
            <a:r>
              <a:rPr lang="pt-PT" sz="1600" dirty="0">
                <a:latin typeface="Arial" panose="020B0604020202020204" pitchFamily="34" charset="0"/>
                <a:cs typeface="Arial" panose="020B0604020202020204" pitchFamily="34" charset="0"/>
              </a:rPr>
              <a:t>, permitindo ainda ajustar, combinar, guardar e capturar os resultados obtidos.</a:t>
            </a:r>
          </a:p>
          <a:p>
            <a:pPr algn="just">
              <a:lnSpc>
                <a:spcPct val="150000"/>
              </a:lnSpc>
            </a:pPr>
            <a:r>
              <a:rPr lang="pt-PT" sz="1600" dirty="0">
                <a:latin typeface="Arial" panose="020B0604020202020204" pitchFamily="34" charset="0"/>
                <a:cs typeface="Arial" panose="020B0604020202020204" pitchFamily="34" charset="0"/>
              </a:rPr>
              <a:t>Ao longo do desenvolvimento foram exploradas várias áreas técnicas, como deteção facial, manipulação de </a:t>
            </a:r>
            <a:r>
              <a:rPr lang="pt-PT" sz="1600" dirty="0" err="1">
                <a:latin typeface="Arial" panose="020B0604020202020204" pitchFamily="34" charset="0"/>
                <a:cs typeface="Arial" panose="020B0604020202020204" pitchFamily="34" charset="0"/>
              </a:rPr>
              <a:t>canvas</a:t>
            </a:r>
            <a:r>
              <a:rPr lang="pt-PT" sz="16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pt-PT" sz="1600" dirty="0" err="1">
                <a:latin typeface="Arial" panose="020B0604020202020204" pitchFamily="34" charset="0"/>
                <a:cs typeface="Arial" panose="020B0604020202020204" pitchFamily="34" charset="0"/>
              </a:rPr>
              <a:t>renderização</a:t>
            </a:r>
            <a:r>
              <a:rPr lang="pt-PT" sz="1600" dirty="0">
                <a:latin typeface="Arial" panose="020B0604020202020204" pitchFamily="34" charset="0"/>
                <a:cs typeface="Arial" panose="020B0604020202020204" pitchFamily="34" charset="0"/>
              </a:rPr>
              <a:t> 3D, utilização de modelos GLB e armazenamento local de configurações. Apesar de existirem limitações, como a ausência de oclusão facial real e o suporte apenas a uma face de cada vez, o resultado final cumpre os objetivos definidos e demonstra uma aplicação prática de visão por computador e interação em tempo real.</a:t>
            </a:r>
          </a:p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1767254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2000250" y="5867400"/>
            <a:ext cx="5143500" cy="489738"/>
          </a:xfrm>
        </p:spPr>
        <p:txBody>
          <a:bodyPr>
            <a:normAutofit/>
          </a:bodyPr>
          <a:lstStyle/>
          <a:p>
            <a:r>
              <a:rPr lang="pt-PT" sz="1500" dirty="0" err="1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www.ipvc.pt</a:t>
            </a:r>
            <a:endParaRPr lang="pt-PT" sz="1500" dirty="0">
              <a:solidFill>
                <a:schemeClr val="bg1"/>
              </a:solidFill>
              <a:latin typeface="Arial" charset="0"/>
              <a:ea typeface="Arial" charset="0"/>
              <a:cs typeface="Arial" charset="0"/>
            </a:endParaRP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7606" y="3409950"/>
            <a:ext cx="4048787" cy="1006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72599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4567</TotalTime>
  <Words>1263</Words>
  <Application>Microsoft Office PowerPoint</Application>
  <PresentationFormat>Apresentação no Ecrã (4:3)</PresentationFormat>
  <Paragraphs>298</Paragraphs>
  <Slides>15</Slides>
  <Notes>13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15</vt:i4>
      </vt:variant>
    </vt:vector>
  </HeadingPairs>
  <TitlesOfParts>
    <vt:vector size="18" baseType="lpstr">
      <vt:lpstr>Arial</vt:lpstr>
      <vt:lpstr>Calibri</vt:lpstr>
      <vt:lpstr>Tema do Office</vt:lpstr>
      <vt:lpstr>AOOP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Diapositivo 1</dc:title>
  <dc:creator>Jorge Ribeiro</dc:creator>
  <cp:lastModifiedBy>Francisco Matos</cp:lastModifiedBy>
  <cp:revision>311</cp:revision>
  <cp:lastPrinted>2020-09-27T18:04:57Z</cp:lastPrinted>
  <dcterms:created xsi:type="dcterms:W3CDTF">2011-05-31T09:21:51Z</dcterms:created>
  <dcterms:modified xsi:type="dcterms:W3CDTF">2026-06-14T21:11:23Z</dcterms:modified>
</cp:coreProperties>
</file>